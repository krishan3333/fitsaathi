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4D376-0DC1-55A1-F480-EFF8E3ED7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FB7F25-1359-8888-9FC5-C20706DFF4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BFBB9-B8D1-40C6-EBEB-06BE01E53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9FB1E-3D90-4C5D-B518-38FD369C23C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1765B-A822-3B6B-B2ED-5459F4227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1DCD9-8000-EBFF-264D-B080B30B5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DCA95-365F-4412-AB36-605ED9207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592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4B271-F9BA-D05C-79A9-3B93CC750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6C51E-FFCA-57AC-7713-661B0E70F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922D0-89F1-0725-8552-6BAA73EAE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9FB1E-3D90-4C5D-B518-38FD369C23C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4557D-5211-85E1-D4FE-7EBA891F0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3EC09-4FEC-A94D-34D1-D79CD2E6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DCA95-365F-4412-AB36-605ED9207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771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CFA01-FF99-3D10-3977-BC9DF8328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56DA68-09D6-B4D1-8647-EC7088564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960DF-D789-0843-3362-7B36E2A80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9FB1E-3D90-4C5D-B518-38FD369C23C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5668C-FAE4-213C-5076-97DA54033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1CCE7-AA8B-8E5E-74A7-13102AB66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DCA95-365F-4412-AB36-605ED9207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783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26B67-3E56-4859-0C36-83152A590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C6FEC-1889-AB80-87C6-2B51FEDD42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2330E1-168D-51BC-36D3-14E04AD85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48F370-BAA4-63BF-5F78-FEF9D9EED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9FB1E-3D90-4C5D-B518-38FD369C23C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E9C32-0F09-1287-07D3-A95207517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098FD-70D7-7524-CAE5-691ADEFF9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DCA95-365F-4412-AB36-605ED9207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902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8F0B5-2ECF-A8B9-5DDE-70279C9F5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C4964-74EA-100B-A6A6-4F39BABFB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AE0CD4-331D-5C03-4E55-9D95DFEF47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6443A8-4181-5162-D737-1BC7B0C83A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866FB7-DAAC-970E-963F-66D7D81971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0A74EF-38FA-2D7C-E3A1-1916955FC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9FB1E-3D90-4C5D-B518-38FD369C23C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A76B3A-4583-CE95-D7CA-7E6A3E68C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71F96A-3A92-7357-8F0E-1ECBF205E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DCA95-365F-4412-AB36-605ED9207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72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31A46-4970-BE41-BFD7-A3EF8A924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B08343-C90A-BE85-0E79-6F3633BC9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9FB1E-3D90-4C5D-B518-38FD369C23C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33BF3C-0BF1-981C-1BA2-4A6BC03A8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68480B-3BC6-E81E-FDFB-05E42E7EF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DCA95-365F-4412-AB36-605ED9207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092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0D903B-28D4-7341-81A9-9E9779301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9FB1E-3D90-4C5D-B518-38FD369C23C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B69167-0DBD-9E44-C703-F7C19F9B6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BC4E6-5F04-176E-50AD-006D55E36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DCA95-365F-4412-AB36-605ED9207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87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4749F-15D9-F6F5-7D70-C987DB487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7772F-1D13-032F-3223-C7F783D8D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6216A-9C13-F50E-26DC-D54FE4C2AE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7A3073-4D5F-9337-4297-052B9EE32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9FB1E-3D90-4C5D-B518-38FD369C23C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6455C9-2FF8-3197-97B8-0D8409E77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1046FD-2E14-0379-6215-535BA9A65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DCA95-365F-4412-AB36-605ED9207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073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28D60-479A-6F6E-62D4-D9AFCD22E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9A16A1-83CF-7C69-D85C-DF28430047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B61C89-2FA5-692C-C23F-B1E1D01B09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0EF4B-8788-3CD1-8AB9-762F6CDF9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9FB1E-3D90-4C5D-B518-38FD369C23C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CEBFBB-A16D-7485-73C3-8D7B97047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30B076-CE2C-6D8A-8863-77024F879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DCA95-365F-4412-AB36-605ED9207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336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2441A-6079-85F5-0D60-204D0EF9F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B21DDA-81C6-F758-53D0-9CDAB2A3AB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0A940-56D1-70D2-78AB-0C935FD72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9FB1E-3D90-4C5D-B518-38FD369C23C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8D438-2E9D-1843-4C58-8D4FF9057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E129F-236C-EB6A-20E8-AF6071FF5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DCA95-365F-4412-AB36-605ED9207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232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732A94-0264-35EF-BAD4-FA60498F7D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16C469-1721-BC51-F2FA-D001EE9CF2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602F4-8A84-2E23-2A21-A4528191F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9FB1E-3D90-4C5D-B518-38FD369C23C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EE730-5D92-F902-CBCA-FEB9973AE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126CB-1248-DA09-6935-1711AD5C1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DCA95-365F-4412-AB36-605ED9207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029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94D90C-F43F-6574-F5C2-273FDE3E8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07C45B-3F87-6B8C-34E5-C2FCA6448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42B51-22D8-EC21-33C8-3808CC3632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9FB1E-3D90-4C5D-B518-38FD369C23C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2AE19-D248-83EE-C14B-401A17F9B8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5789D-7E18-6F92-827F-D9D13F132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2DCA95-365F-4412-AB36-605ED9207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06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1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A79E63F-2851-8412-E372-0E6FAB9E5978}"/>
              </a:ext>
            </a:extLst>
          </p:cNvPr>
          <p:cNvSpPr/>
          <p:nvPr/>
        </p:nvSpPr>
        <p:spPr>
          <a:xfrm>
            <a:off x="7302500" y="1193800"/>
            <a:ext cx="4826000" cy="4826000"/>
          </a:xfrm>
          <a:prstGeom prst="ellipse">
            <a:avLst/>
          </a:prstGeom>
          <a:solidFill>
            <a:srgbClr val="EE6826">
              <a:alpha val="2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A597D45-C9E2-91DE-8467-2011B64A6133}"/>
              </a:ext>
            </a:extLst>
          </p:cNvPr>
          <p:cNvSpPr/>
          <p:nvPr/>
        </p:nvSpPr>
        <p:spPr>
          <a:xfrm>
            <a:off x="8356600" y="2235200"/>
            <a:ext cx="2768600" cy="2768600"/>
          </a:xfrm>
          <a:prstGeom prst="ellipse">
            <a:avLst/>
          </a:prstGeom>
          <a:solidFill>
            <a:srgbClr val="679117">
              <a:alpha val="2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0D5E990-DE60-2EBF-7A46-575C96F58BCA}"/>
              </a:ext>
            </a:extLst>
          </p:cNvPr>
          <p:cNvSpPr/>
          <p:nvPr/>
        </p:nvSpPr>
        <p:spPr>
          <a:xfrm>
            <a:off x="9182100" y="3073400"/>
            <a:ext cx="1117600" cy="111760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BA04393-E785-31C3-F538-769017084E59}"/>
              </a:ext>
            </a:extLst>
          </p:cNvPr>
          <p:cNvSpPr/>
          <p:nvPr/>
        </p:nvSpPr>
        <p:spPr>
          <a:xfrm>
            <a:off x="571500" y="584200"/>
            <a:ext cx="2438400" cy="292100"/>
          </a:xfrm>
          <a:prstGeom prst="roundRect">
            <a:avLst>
              <a:gd name="adj" fmla="val 25000"/>
            </a:avLst>
          </a:prstGeom>
          <a:solidFill>
            <a:srgbClr val="EE68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F91D0-B666-227C-F451-D6A784D4F075}"/>
              </a:ext>
            </a:extLst>
          </p:cNvPr>
          <p:cNvSpPr txBox="1"/>
          <p:nvPr/>
        </p:nvSpPr>
        <p:spPr>
          <a:xfrm>
            <a:off x="698500" y="647700"/>
            <a:ext cx="21844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950" b="1">
                <a:solidFill>
                  <a:srgbClr val="FFFFFF"/>
                </a:solidFill>
                <a:latin typeface="Aptos" panose="020B0004020202020204" pitchFamily="34" charset="0"/>
              </a:rPr>
              <a:t>SMART INDIA HACKATHON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FAF35E-92FC-276A-8E92-C05CD0EA982C}"/>
              </a:ext>
            </a:extLst>
          </p:cNvPr>
          <p:cNvSpPr txBox="1"/>
          <p:nvPr/>
        </p:nvSpPr>
        <p:spPr>
          <a:xfrm>
            <a:off x="571500" y="1816100"/>
            <a:ext cx="6223000" cy="6617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4300" b="1">
                <a:solidFill>
                  <a:srgbClr val="FFFFFF"/>
                </a:solidFill>
                <a:latin typeface="Aptos Display" panose="020B0004020202020204" pitchFamily="34" charset="0"/>
              </a:rPr>
              <a:t>FitSaathi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9388D-E6FF-F7B7-FE88-9365A52F43EB}"/>
              </a:ext>
            </a:extLst>
          </p:cNvPr>
          <p:cNvSpPr txBox="1"/>
          <p:nvPr/>
        </p:nvSpPr>
        <p:spPr>
          <a:xfrm>
            <a:off x="596900" y="2641600"/>
            <a:ext cx="5905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>
                <a:solidFill>
                  <a:srgbClr val="F2DCCF"/>
                </a:solidFill>
                <a:latin typeface="Aptos" panose="020B0004020202020204" pitchFamily="34" charset="0"/>
              </a:rPr>
              <a:t>Fitness that fits student life.</a:t>
            </a:r>
            <a:endParaRPr lang="en-IN" sz="2200">
              <a:solidFill>
                <a:srgbClr val="F2DCCF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927893-43A0-B114-1EAF-9CEBD2396F48}"/>
              </a:ext>
            </a:extLst>
          </p:cNvPr>
          <p:cNvSpPr txBox="1"/>
          <p:nvPr/>
        </p:nvSpPr>
        <p:spPr>
          <a:xfrm>
            <a:off x="596900" y="3492500"/>
            <a:ext cx="5461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FFFFFF"/>
                </a:solidFill>
                <a:latin typeface="Aptos" panose="020B0004020202020204" pitchFamily="34" charset="0"/>
              </a:rPr>
              <a:t>A campus fitness PWA that finds the right time, place and people for students to move.</a:t>
            </a:r>
            <a:endParaRPr lang="en-IN" sz="16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BD27E87-07FC-0FFA-1268-93A01D9701CB}"/>
              </a:ext>
            </a:extLst>
          </p:cNvPr>
          <p:cNvSpPr/>
          <p:nvPr/>
        </p:nvSpPr>
        <p:spPr>
          <a:xfrm>
            <a:off x="596900" y="4660900"/>
            <a:ext cx="1473200" cy="292100"/>
          </a:xfrm>
          <a:prstGeom prst="roundRect">
            <a:avLst>
              <a:gd name="adj" fmla="val 25000"/>
            </a:avLst>
          </a:prstGeom>
          <a:solidFill>
            <a:srgbClr val="5033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55020B-A83D-E5F9-827D-4D3FFD14214A}"/>
              </a:ext>
            </a:extLst>
          </p:cNvPr>
          <p:cNvSpPr txBox="1"/>
          <p:nvPr/>
        </p:nvSpPr>
        <p:spPr>
          <a:xfrm>
            <a:off x="723900" y="4724400"/>
            <a:ext cx="12192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950" b="1">
                <a:solidFill>
                  <a:srgbClr val="FFFFFF"/>
                </a:solidFill>
                <a:latin typeface="Aptos" panose="020B0004020202020204" pitchFamily="34" charset="0"/>
              </a:rPr>
              <a:t>Problem ID 26196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D6E3733-1777-23C9-507B-E7AD1AF21635}"/>
              </a:ext>
            </a:extLst>
          </p:cNvPr>
          <p:cNvSpPr/>
          <p:nvPr/>
        </p:nvSpPr>
        <p:spPr>
          <a:xfrm>
            <a:off x="2222500" y="4660900"/>
            <a:ext cx="1549400" cy="292100"/>
          </a:xfrm>
          <a:prstGeom prst="roundRect">
            <a:avLst>
              <a:gd name="adj" fmla="val 25000"/>
            </a:avLst>
          </a:prstGeom>
          <a:solidFill>
            <a:srgbClr val="5033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C09319-E757-0AF7-E4B4-BAEE3A815566}"/>
              </a:ext>
            </a:extLst>
          </p:cNvPr>
          <p:cNvSpPr txBox="1"/>
          <p:nvPr/>
        </p:nvSpPr>
        <p:spPr>
          <a:xfrm>
            <a:off x="2349500" y="4724400"/>
            <a:ext cx="12954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950" b="1">
                <a:solidFill>
                  <a:srgbClr val="FFFFFF"/>
                </a:solidFill>
                <a:latin typeface="Aptos" panose="020B0004020202020204" pitchFamily="34" charset="0"/>
              </a:rPr>
              <a:t>Fitness and Sports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D7DD82-6F31-BCF7-B58B-2EFA4F0C1362}"/>
              </a:ext>
            </a:extLst>
          </p:cNvPr>
          <p:cNvSpPr txBox="1"/>
          <p:nvPr/>
        </p:nvSpPr>
        <p:spPr>
          <a:xfrm>
            <a:off x="596900" y="5676900"/>
            <a:ext cx="609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E7CBB9"/>
                </a:solidFill>
                <a:latin typeface="Aptos" panose="020B0004020202020204" pitchFamily="34" charset="0"/>
              </a:rPr>
              <a:t>Student Innovation  ideas that boost fitness activities and help students stay fit</a:t>
            </a:r>
            <a:endParaRPr lang="en-IN" sz="1200">
              <a:solidFill>
                <a:srgbClr val="E7CBB9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F8CD90-CA46-46C1-6236-62A178C11579}"/>
              </a:ext>
            </a:extLst>
          </p:cNvPr>
          <p:cNvSpPr txBox="1"/>
          <p:nvPr/>
        </p:nvSpPr>
        <p:spPr>
          <a:xfrm>
            <a:off x="596900" y="6375400"/>
            <a:ext cx="457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C4A18A"/>
                </a:solidFill>
                <a:latin typeface="Aptos" panose="020B0004020202020204" pitchFamily="34" charset="0"/>
              </a:rPr>
              <a:t>Team name / Team ID: add before submission</a:t>
            </a:r>
            <a:endParaRPr lang="en-IN" sz="1000">
              <a:solidFill>
                <a:srgbClr val="C4A18A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93F3FD-C4F3-1604-C6C1-AB8B2320EDE4}"/>
              </a:ext>
            </a:extLst>
          </p:cNvPr>
          <p:cNvSpPr txBox="1"/>
          <p:nvPr/>
        </p:nvSpPr>
        <p:spPr>
          <a:xfrm>
            <a:off x="11239500" y="6413500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1000" b="1">
                <a:solidFill>
                  <a:srgbClr val="E7CBB9"/>
                </a:solidFill>
                <a:latin typeface="Aptos" panose="020B0004020202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59009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6CD202-EC2D-2A91-E347-AA083EB0730A}"/>
              </a:ext>
            </a:extLst>
          </p:cNvPr>
          <p:cNvSpPr txBox="1"/>
          <p:nvPr/>
        </p:nvSpPr>
        <p:spPr>
          <a:xfrm>
            <a:off x="558800" y="355600"/>
            <a:ext cx="139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EE6826"/>
                </a:solidFill>
                <a:latin typeface="Aptos Display" panose="020B0004020202020204" pitchFamily="34" charset="0"/>
              </a:rPr>
              <a:t>FITSAATHI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44F465-E43F-6490-1A5E-AD8CC492386C}"/>
              </a:ext>
            </a:extLst>
          </p:cNvPr>
          <p:cNvSpPr txBox="1"/>
          <p:nvPr/>
        </p:nvSpPr>
        <p:spPr>
          <a:xfrm>
            <a:off x="558800" y="6604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846C5C"/>
                </a:solidFill>
                <a:latin typeface="Aptos" panose="020B0004020202020204" pitchFamily="34" charset="0"/>
              </a:rPr>
              <a:t>PROBLEM &amp; DIFFERENTIATED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9BF6EC-E326-1035-9C5A-64DF75C91BA7}"/>
              </a:ext>
            </a:extLst>
          </p:cNvPr>
          <p:cNvSpPr txBox="1"/>
          <p:nvPr/>
        </p:nvSpPr>
        <p:spPr>
          <a:xfrm>
            <a:off x="11226800" y="355600"/>
            <a:ext cx="40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1000" b="1">
                <a:solidFill>
                  <a:srgbClr val="846C5C"/>
                </a:solidFill>
                <a:latin typeface="Aptos" panose="020B0004020202020204" pitchFamily="34" charset="0"/>
              </a:rPr>
              <a:t>02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09027C-0792-DCEA-453D-A807FA24FADA}"/>
              </a:ext>
            </a:extLst>
          </p:cNvPr>
          <p:cNvCxnSpPr/>
          <p:nvPr/>
        </p:nvCxnSpPr>
        <p:spPr>
          <a:xfrm>
            <a:off x="558800" y="965200"/>
            <a:ext cx="11074400" cy="0"/>
          </a:xfrm>
          <a:prstGeom prst="line">
            <a:avLst/>
          </a:prstGeom>
          <a:ln w="12700">
            <a:solidFill>
              <a:srgbClr val="EEE3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03078F7-9939-D499-1BE5-DA16CD60E08D}"/>
              </a:ext>
            </a:extLst>
          </p:cNvPr>
          <p:cNvSpPr txBox="1"/>
          <p:nvPr/>
        </p:nvSpPr>
        <p:spPr>
          <a:xfrm>
            <a:off x="558800" y="1270000"/>
            <a:ext cx="8382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>
                <a:solidFill>
                  <a:srgbClr val="3E2719"/>
                </a:solidFill>
                <a:latin typeface="Aptos" panose="020B0004020202020204" pitchFamily="34" charset="0"/>
              </a:rPr>
              <a:t>Students do not need another generic workout plan.</a:t>
            </a:r>
            <a:endParaRPr lang="en-IN" sz="2500" b="1">
              <a:solidFill>
                <a:srgbClr val="3E2719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9BA3FF-B005-2D7F-85FB-95443F05C3F3}"/>
              </a:ext>
            </a:extLst>
          </p:cNvPr>
          <p:cNvSpPr txBox="1"/>
          <p:nvPr/>
        </p:nvSpPr>
        <p:spPr>
          <a:xfrm>
            <a:off x="558800" y="1689100"/>
            <a:ext cx="762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846C5C"/>
                </a:solidFill>
                <a:latin typeface="Aptos" panose="020B0004020202020204" pitchFamily="34" charset="0"/>
              </a:rPr>
              <a:t>They need fitness that works inside a real campus day.</a:t>
            </a:r>
            <a:endParaRPr lang="en-IN" sz="1500">
              <a:solidFill>
                <a:srgbClr val="846C5C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8FF4EC-1513-6D4F-231D-40956AAE2B19}"/>
              </a:ext>
            </a:extLst>
          </p:cNvPr>
          <p:cNvSpPr txBox="1"/>
          <p:nvPr/>
        </p:nvSpPr>
        <p:spPr>
          <a:xfrm>
            <a:off x="558800" y="2336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6937CD"/>
                </a:solidFill>
                <a:latin typeface="Aptos" panose="020B0004020202020204" pitchFamily="34" charset="0"/>
              </a:rPr>
              <a:t>THE FRICTION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2ABEA7-1B56-8A5C-75E8-03CA6A8C5B75}"/>
              </a:ext>
            </a:extLst>
          </p:cNvPr>
          <p:cNvSpPr txBox="1"/>
          <p:nvPr/>
        </p:nvSpPr>
        <p:spPr>
          <a:xfrm>
            <a:off x="6350000" y="2336800"/>
            <a:ext cx="431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EE6826"/>
                </a:solidFill>
                <a:latin typeface="Aptos" panose="020B0004020202020204" pitchFamily="34" charset="0"/>
              </a:rPr>
              <a:t>THE FITSAATHI RESPONSE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A769A19-3F34-A5B1-041E-D08E11030CDE}"/>
              </a:ext>
            </a:extLst>
          </p:cNvPr>
          <p:cNvSpPr/>
          <p:nvPr/>
        </p:nvSpPr>
        <p:spPr>
          <a:xfrm>
            <a:off x="558800" y="2717800"/>
            <a:ext cx="5054600" cy="1346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EE3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F03CB1C-57EF-F241-E08B-99673241AD78}"/>
              </a:ext>
            </a:extLst>
          </p:cNvPr>
          <p:cNvSpPr/>
          <p:nvPr/>
        </p:nvSpPr>
        <p:spPr>
          <a:xfrm>
            <a:off x="787400" y="2933700"/>
            <a:ext cx="419100" cy="419100"/>
          </a:xfrm>
          <a:prstGeom prst="roundRect">
            <a:avLst>
              <a:gd name="adj" fmla="val 20000"/>
            </a:avLst>
          </a:prstGeom>
          <a:solidFill>
            <a:srgbClr val="EEE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D7B96C-44B3-8302-334A-ADD999C5F0B2}"/>
              </a:ext>
            </a:extLst>
          </p:cNvPr>
          <p:cNvSpPr txBox="1"/>
          <p:nvPr/>
        </p:nvSpPr>
        <p:spPr>
          <a:xfrm>
            <a:off x="787400" y="2997200"/>
            <a:ext cx="4191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1400" b="1">
                <a:solidFill>
                  <a:srgbClr val="6937CD"/>
                </a:solidFill>
                <a:latin typeface="Segoe UI Symbol" panose="020B0502040204020203" pitchFamily="34" charset="0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A75E51-F034-7BB2-CAD3-8958DC6F256C}"/>
              </a:ext>
            </a:extLst>
          </p:cNvPr>
          <p:cNvSpPr txBox="1"/>
          <p:nvPr/>
        </p:nvSpPr>
        <p:spPr>
          <a:xfrm>
            <a:off x="1346200" y="2959100"/>
            <a:ext cx="4038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 b="1">
                <a:solidFill>
                  <a:srgbClr val="3E2719"/>
                </a:solidFill>
                <a:latin typeface="Aptos" panose="020B0004020202020204" pitchFamily="34" charset="0"/>
              </a:rPr>
              <a:t>Timetable gaps disappear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18AF91-380D-252D-B31C-AA72CFE0DD33}"/>
              </a:ext>
            </a:extLst>
          </p:cNvPr>
          <p:cNvSpPr txBox="1"/>
          <p:nvPr/>
        </p:nvSpPr>
        <p:spPr>
          <a:xfrm>
            <a:off x="787400" y="3492500"/>
            <a:ext cx="45974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846C5C"/>
                </a:solidFill>
                <a:latin typeface="Aptos" panose="020B0004020202020204" pitchFamily="34" charset="0"/>
              </a:rPr>
              <a:t>Short free slots are rarely turned into a clear, realistic activity plan.</a:t>
            </a:r>
            <a:endParaRPr lang="en-IN" sz="1050">
              <a:solidFill>
                <a:srgbClr val="846C5C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A3CF088-7171-3382-A87D-DF59AA86EA73}"/>
              </a:ext>
            </a:extLst>
          </p:cNvPr>
          <p:cNvSpPr/>
          <p:nvPr/>
        </p:nvSpPr>
        <p:spPr>
          <a:xfrm>
            <a:off x="558800" y="4279900"/>
            <a:ext cx="5054600" cy="1346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EE3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04B0C29-53DF-1C38-B7F0-F7CD83093F9C}"/>
              </a:ext>
            </a:extLst>
          </p:cNvPr>
          <p:cNvSpPr/>
          <p:nvPr/>
        </p:nvSpPr>
        <p:spPr>
          <a:xfrm>
            <a:off x="787400" y="4495800"/>
            <a:ext cx="419100" cy="419100"/>
          </a:xfrm>
          <a:prstGeom prst="roundRect">
            <a:avLst>
              <a:gd name="adj" fmla="val 20000"/>
            </a:avLst>
          </a:prstGeom>
          <a:solidFill>
            <a:srgbClr val="D7F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4DA32E-90E5-AB4B-75B6-7F428DDD602D}"/>
              </a:ext>
            </a:extLst>
          </p:cNvPr>
          <p:cNvSpPr txBox="1"/>
          <p:nvPr/>
        </p:nvSpPr>
        <p:spPr>
          <a:xfrm>
            <a:off x="787400" y="4559300"/>
            <a:ext cx="4191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1400" b="1">
                <a:solidFill>
                  <a:srgbClr val="166AAE"/>
                </a:solidFill>
                <a:latin typeface="Segoe UI Symbol" panose="020B0502040204020203" pitchFamily="34" charset="0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5C8DA7-EE51-EF82-D44D-55302106A876}"/>
              </a:ext>
            </a:extLst>
          </p:cNvPr>
          <p:cNvSpPr txBox="1"/>
          <p:nvPr/>
        </p:nvSpPr>
        <p:spPr>
          <a:xfrm>
            <a:off x="1346200" y="4521200"/>
            <a:ext cx="4038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 b="1">
                <a:solidFill>
                  <a:srgbClr val="3E2719"/>
                </a:solidFill>
                <a:latin typeface="Aptos" panose="020B0004020202020204" pitchFamily="34" charset="0"/>
              </a:rPr>
              <a:t>Unsafe / uncertain conditions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0E77AA-40D0-B632-7400-3A1532E9FFA4}"/>
              </a:ext>
            </a:extLst>
          </p:cNvPr>
          <p:cNvSpPr txBox="1"/>
          <p:nvPr/>
        </p:nvSpPr>
        <p:spPr>
          <a:xfrm>
            <a:off x="787400" y="5054600"/>
            <a:ext cx="45974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846C5C"/>
                </a:solidFill>
                <a:latin typeface="Aptos" panose="020B0004020202020204" pitchFamily="34" charset="0"/>
              </a:rPr>
              <a:t>Heat, rain and air quality make the best time and place hard to judge.</a:t>
            </a:r>
            <a:endParaRPr lang="en-IN" sz="1050">
              <a:solidFill>
                <a:srgbClr val="846C5C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248ADB0-51B1-3250-7267-27F6EE3FBFA8}"/>
              </a:ext>
            </a:extLst>
          </p:cNvPr>
          <p:cNvSpPr/>
          <p:nvPr/>
        </p:nvSpPr>
        <p:spPr>
          <a:xfrm>
            <a:off x="558800" y="5842000"/>
            <a:ext cx="5054600" cy="1346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EE3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490E502-D124-C6DE-3BEB-F71EF595E31D}"/>
              </a:ext>
            </a:extLst>
          </p:cNvPr>
          <p:cNvSpPr/>
          <p:nvPr/>
        </p:nvSpPr>
        <p:spPr>
          <a:xfrm>
            <a:off x="787400" y="6057900"/>
            <a:ext cx="419100" cy="419100"/>
          </a:xfrm>
          <a:prstGeom prst="roundRect">
            <a:avLst>
              <a:gd name="adj" fmla="val 20000"/>
            </a:avLst>
          </a:prstGeom>
          <a:solidFill>
            <a:srgbClr val="FFE7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17FCA8-3B20-7239-87BB-09B6313D35E1}"/>
              </a:ext>
            </a:extLst>
          </p:cNvPr>
          <p:cNvSpPr txBox="1"/>
          <p:nvPr/>
        </p:nvSpPr>
        <p:spPr>
          <a:xfrm>
            <a:off x="787400" y="6121400"/>
            <a:ext cx="4191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1400" b="1">
                <a:solidFill>
                  <a:srgbClr val="C9457B"/>
                </a:solidFill>
                <a:latin typeface="Segoe UI Symbol" panose="020B0502040204020203" pitchFamily="34" charset="0"/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0F0350-2A89-8F2C-B242-E445A18556A3}"/>
              </a:ext>
            </a:extLst>
          </p:cNvPr>
          <p:cNvSpPr txBox="1"/>
          <p:nvPr/>
        </p:nvSpPr>
        <p:spPr>
          <a:xfrm>
            <a:off x="1346200" y="6083300"/>
            <a:ext cx="4038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 b="1">
                <a:solidFill>
                  <a:srgbClr val="3E2719"/>
                </a:solidFill>
                <a:latin typeface="Aptos" panose="020B0004020202020204" pitchFamily="34" charset="0"/>
              </a:rPr>
              <a:t>Motivation needs people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EC91B2-CE3E-26D4-F7AA-AEF6242CDA3C}"/>
              </a:ext>
            </a:extLst>
          </p:cNvPr>
          <p:cNvSpPr txBox="1"/>
          <p:nvPr/>
        </p:nvSpPr>
        <p:spPr>
          <a:xfrm>
            <a:off x="787400" y="6616700"/>
            <a:ext cx="45974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846C5C"/>
                </a:solidFill>
                <a:latin typeface="Aptos" panose="020B0004020202020204" pitchFamily="34" charset="0"/>
              </a:rPr>
              <a:t>Fitness alone loses momentum; typed activity data is difficult to trust.</a:t>
            </a:r>
            <a:endParaRPr lang="en-IN" sz="1050">
              <a:solidFill>
                <a:srgbClr val="846C5C"/>
              </a:solidFill>
              <a:latin typeface="Aptos" panose="020B00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2A04D9E-23C9-564A-F253-CE320CE2E27C}"/>
              </a:ext>
            </a:extLst>
          </p:cNvPr>
          <p:cNvSpPr/>
          <p:nvPr/>
        </p:nvSpPr>
        <p:spPr>
          <a:xfrm>
            <a:off x="6350000" y="2717800"/>
            <a:ext cx="5283200" cy="1346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EE3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FF5BF08-C26C-78B9-CF92-F85AE631E737}"/>
              </a:ext>
            </a:extLst>
          </p:cNvPr>
          <p:cNvSpPr/>
          <p:nvPr/>
        </p:nvSpPr>
        <p:spPr>
          <a:xfrm>
            <a:off x="6578600" y="2933700"/>
            <a:ext cx="419100" cy="419100"/>
          </a:xfrm>
          <a:prstGeom prst="roundRect">
            <a:avLst>
              <a:gd name="adj" fmla="val 20000"/>
            </a:avLst>
          </a:prstGeom>
          <a:solidFill>
            <a:srgbClr val="FFEC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ADAD95-81F3-D8BE-A548-BD4A59A36F8A}"/>
              </a:ext>
            </a:extLst>
          </p:cNvPr>
          <p:cNvSpPr txBox="1"/>
          <p:nvPr/>
        </p:nvSpPr>
        <p:spPr>
          <a:xfrm>
            <a:off x="6578600" y="2997200"/>
            <a:ext cx="4191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1400" b="1">
                <a:solidFill>
                  <a:srgbClr val="EE6826"/>
                </a:solidFill>
                <a:latin typeface="Segoe UI Symbol" panose="020B0502040204020203" pitchFamily="34" charset="0"/>
              </a:rPr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AAB892-C1B3-D649-BE35-16965AA41ED1}"/>
              </a:ext>
            </a:extLst>
          </p:cNvPr>
          <p:cNvSpPr txBox="1"/>
          <p:nvPr/>
        </p:nvSpPr>
        <p:spPr>
          <a:xfrm>
            <a:off x="7137400" y="2959100"/>
            <a:ext cx="4267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 b="1">
                <a:solidFill>
                  <a:srgbClr val="3E2719"/>
                </a:solidFill>
                <a:latin typeface="Aptos" panose="020B0004020202020204" pitchFamily="34" charset="0"/>
              </a:rPr>
              <a:t>Fit Window + Smart Quest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7D81D4-183F-29DD-6444-032B78D8EC41}"/>
              </a:ext>
            </a:extLst>
          </p:cNvPr>
          <p:cNvSpPr txBox="1"/>
          <p:nvPr/>
        </p:nvSpPr>
        <p:spPr>
          <a:xfrm>
            <a:off x="6578600" y="3492500"/>
            <a:ext cx="4826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846C5C"/>
                </a:solidFill>
                <a:latin typeface="Aptos" panose="020B0004020202020204" pitchFamily="34" charset="0"/>
              </a:rPr>
              <a:t>Matches timetable, goals, duration and weather/AQI to a practical next move.</a:t>
            </a:r>
            <a:endParaRPr lang="en-IN" sz="1050">
              <a:solidFill>
                <a:srgbClr val="846C5C"/>
              </a:solidFill>
              <a:latin typeface="Aptos" panose="020B00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715A4C5-7B2D-2E60-AFA0-37497C757E22}"/>
              </a:ext>
            </a:extLst>
          </p:cNvPr>
          <p:cNvSpPr/>
          <p:nvPr/>
        </p:nvSpPr>
        <p:spPr>
          <a:xfrm>
            <a:off x="6350000" y="4279900"/>
            <a:ext cx="5283200" cy="1346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EE3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CB709DE-3B5A-C6C1-89C0-0D247FB50D7F}"/>
              </a:ext>
            </a:extLst>
          </p:cNvPr>
          <p:cNvSpPr/>
          <p:nvPr/>
        </p:nvSpPr>
        <p:spPr>
          <a:xfrm>
            <a:off x="6578600" y="4495800"/>
            <a:ext cx="419100" cy="419100"/>
          </a:xfrm>
          <a:prstGeom prst="roundRect">
            <a:avLst>
              <a:gd name="adj" fmla="val 20000"/>
            </a:avLst>
          </a:prstGeom>
          <a:solidFill>
            <a:srgbClr val="EBF6D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527FA5-7D7A-E9CD-ADB1-5FF7BC2A79A9}"/>
              </a:ext>
            </a:extLst>
          </p:cNvPr>
          <p:cNvSpPr txBox="1"/>
          <p:nvPr/>
        </p:nvSpPr>
        <p:spPr>
          <a:xfrm>
            <a:off x="6578600" y="4559300"/>
            <a:ext cx="4191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1400" b="1">
                <a:solidFill>
                  <a:srgbClr val="679117"/>
                </a:solidFill>
                <a:latin typeface="Segoe UI Symbol" panose="020B0502040204020203" pitchFamily="34" charset="0"/>
              </a:rPr>
              <a:t>B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8C7926-6C02-7295-9793-65FCC4FB604F}"/>
              </a:ext>
            </a:extLst>
          </p:cNvPr>
          <p:cNvSpPr txBox="1"/>
          <p:nvPr/>
        </p:nvSpPr>
        <p:spPr>
          <a:xfrm>
            <a:off x="7137400" y="4521200"/>
            <a:ext cx="4267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 b="1">
                <a:solidFill>
                  <a:srgbClr val="3E2719"/>
                </a:solidFill>
                <a:latin typeface="Aptos" panose="020B0004020202020204" pitchFamily="34" charset="0"/>
              </a:rPr>
              <a:t>FitRoute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D3A671-8147-2710-5B4B-F617656ECF56}"/>
              </a:ext>
            </a:extLst>
          </p:cNvPr>
          <p:cNvSpPr txBox="1"/>
          <p:nvPr/>
        </p:nvSpPr>
        <p:spPr>
          <a:xfrm>
            <a:off x="6578600" y="5054600"/>
            <a:ext cx="4826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846C5C"/>
                </a:solidFill>
                <a:latin typeface="Aptos" panose="020B0004020202020204" pitchFamily="34" charset="0"/>
              </a:rPr>
              <a:t>Shows weather-aware campus activity spots, green windows and indoor alternatives.</a:t>
            </a:r>
            <a:endParaRPr lang="en-IN" sz="1050">
              <a:solidFill>
                <a:srgbClr val="846C5C"/>
              </a:solidFill>
              <a:latin typeface="Aptos" panose="020B0004020202020204" pitchFamily="34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D5B6B19-70D7-5A49-CD44-5ECFF9C80E9C}"/>
              </a:ext>
            </a:extLst>
          </p:cNvPr>
          <p:cNvSpPr/>
          <p:nvPr/>
        </p:nvSpPr>
        <p:spPr>
          <a:xfrm>
            <a:off x="6350000" y="5842000"/>
            <a:ext cx="5283200" cy="1346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EE3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0BDEA14-D7EA-987A-1663-775E85E93BBF}"/>
              </a:ext>
            </a:extLst>
          </p:cNvPr>
          <p:cNvSpPr/>
          <p:nvPr/>
        </p:nvSpPr>
        <p:spPr>
          <a:xfrm>
            <a:off x="6578600" y="6057900"/>
            <a:ext cx="419100" cy="419100"/>
          </a:xfrm>
          <a:prstGeom prst="roundRect">
            <a:avLst>
              <a:gd name="adj" fmla="val 20000"/>
            </a:avLst>
          </a:prstGeom>
          <a:solidFill>
            <a:srgbClr val="FFE7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8E9F95-A095-B1C5-0447-FA6420BFFA75}"/>
              </a:ext>
            </a:extLst>
          </p:cNvPr>
          <p:cNvSpPr txBox="1"/>
          <p:nvPr/>
        </p:nvSpPr>
        <p:spPr>
          <a:xfrm>
            <a:off x="6578600" y="6121400"/>
            <a:ext cx="4191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1400" b="1">
                <a:solidFill>
                  <a:srgbClr val="C9457B"/>
                </a:solidFill>
                <a:latin typeface="Segoe UI Symbol" panose="020B0502040204020203" pitchFamily="34" charset="0"/>
              </a:rPr>
              <a:t>C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668683B-C76D-3F57-E672-296326EC9ED7}"/>
              </a:ext>
            </a:extLst>
          </p:cNvPr>
          <p:cNvSpPr txBox="1"/>
          <p:nvPr/>
        </p:nvSpPr>
        <p:spPr>
          <a:xfrm>
            <a:off x="7137400" y="6083300"/>
            <a:ext cx="4267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 b="1">
                <a:solidFill>
                  <a:srgbClr val="3E2719"/>
                </a:solidFill>
                <a:latin typeface="Aptos" panose="020B0004020202020204" pitchFamily="34" charset="0"/>
              </a:rPr>
              <a:t>Fit Circles + Squad Sessions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251A40-7924-6692-3C75-F29724209776}"/>
              </a:ext>
            </a:extLst>
          </p:cNvPr>
          <p:cNvSpPr txBox="1"/>
          <p:nvPr/>
        </p:nvSpPr>
        <p:spPr>
          <a:xfrm>
            <a:off x="6578600" y="6616700"/>
            <a:ext cx="4826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846C5C"/>
                </a:solidFill>
                <a:latin typeface="Aptos" panose="020B0004020202020204" pitchFamily="34" charset="0"/>
              </a:rPr>
              <a:t>Turns movement social with challenges, live boards and peer-verified group activity.</a:t>
            </a:r>
            <a:endParaRPr lang="en-IN" sz="1050">
              <a:solidFill>
                <a:srgbClr val="846C5C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173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EF5944-8F2D-4DCE-B316-2A0DB21AE4F7}"/>
              </a:ext>
            </a:extLst>
          </p:cNvPr>
          <p:cNvSpPr txBox="1"/>
          <p:nvPr/>
        </p:nvSpPr>
        <p:spPr>
          <a:xfrm>
            <a:off x="558800" y="355600"/>
            <a:ext cx="139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EE6826"/>
                </a:solidFill>
                <a:latin typeface="Aptos Display" panose="020B0004020202020204" pitchFamily="34" charset="0"/>
              </a:rPr>
              <a:t>FITSAATHI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66DD98-AB46-62A5-4FF7-085FC0CA7413}"/>
              </a:ext>
            </a:extLst>
          </p:cNvPr>
          <p:cNvSpPr txBox="1"/>
          <p:nvPr/>
        </p:nvSpPr>
        <p:spPr>
          <a:xfrm>
            <a:off x="558800" y="6604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846C5C"/>
                </a:solidFill>
                <a:latin typeface="Aptos" panose="020B0004020202020204" pitchFamily="34" charset="0"/>
              </a:rPr>
              <a:t>SYSTEM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A5BE56-5812-CC03-D291-4D243602A784}"/>
              </a:ext>
            </a:extLst>
          </p:cNvPr>
          <p:cNvSpPr txBox="1"/>
          <p:nvPr/>
        </p:nvSpPr>
        <p:spPr>
          <a:xfrm>
            <a:off x="11226800" y="355600"/>
            <a:ext cx="40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1000" b="1">
                <a:solidFill>
                  <a:srgbClr val="846C5C"/>
                </a:solidFill>
                <a:latin typeface="Aptos" panose="020B0004020202020204" pitchFamily="34" charset="0"/>
              </a:rPr>
              <a:t>03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F86C4A2-62E8-068A-065A-7FD7C0974C6B}"/>
              </a:ext>
            </a:extLst>
          </p:cNvPr>
          <p:cNvCxnSpPr/>
          <p:nvPr/>
        </p:nvCxnSpPr>
        <p:spPr>
          <a:xfrm>
            <a:off x="558800" y="965200"/>
            <a:ext cx="11074400" cy="0"/>
          </a:xfrm>
          <a:prstGeom prst="line">
            <a:avLst/>
          </a:prstGeom>
          <a:ln w="12700">
            <a:solidFill>
              <a:srgbClr val="EEE3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5B849A4-4241-33CC-C2CE-0F333B65A998}"/>
              </a:ext>
            </a:extLst>
          </p:cNvPr>
          <p:cNvSpPr txBox="1"/>
          <p:nvPr/>
        </p:nvSpPr>
        <p:spPr>
          <a:xfrm>
            <a:off x="558800" y="1257300"/>
            <a:ext cx="9652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 b="1">
                <a:solidFill>
                  <a:srgbClr val="3E2719"/>
                </a:solidFill>
                <a:latin typeface="Aptos" panose="020B0004020202020204" pitchFamily="34" charset="0"/>
              </a:rPr>
              <a:t>From a student's available moment to a trusted fitness action.</a:t>
            </a:r>
            <a:endParaRPr lang="en-IN" sz="2300" b="1">
              <a:solidFill>
                <a:srgbClr val="3E2719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07BCE2-AC36-50C2-E03F-3C8A4D2B0DBC}"/>
              </a:ext>
            </a:extLst>
          </p:cNvPr>
          <p:cNvSpPr txBox="1"/>
          <p:nvPr/>
        </p:nvSpPr>
        <p:spPr>
          <a:xfrm>
            <a:off x="558800" y="1714500"/>
            <a:ext cx="990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846C5C"/>
                </a:solidFill>
                <a:latin typeface="Aptos" panose="020B0004020202020204" pitchFamily="34" charset="0"/>
              </a:rPr>
              <a:t>Personalised selection is rule-based; AI can enrich quest wording but never decides eligibility.</a:t>
            </a:r>
            <a:endParaRPr lang="en-IN" sz="1200">
              <a:solidFill>
                <a:srgbClr val="846C5C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3062D7-D552-281D-5D14-B301FEE50D74}"/>
              </a:ext>
            </a:extLst>
          </p:cNvPr>
          <p:cNvSpPr txBox="1"/>
          <p:nvPr/>
        </p:nvSpPr>
        <p:spPr>
          <a:xfrm>
            <a:off x="800100" y="2425700"/>
            <a:ext cx="190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846C5C"/>
                </a:solidFill>
                <a:latin typeface="Aptos" panose="020B0004020202020204" pitchFamily="34" charset="0"/>
              </a:rPr>
              <a:t>CONTEXT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D227FA-0D39-6D57-19A2-FCA432FCCCA0}"/>
              </a:ext>
            </a:extLst>
          </p:cNvPr>
          <p:cNvSpPr txBox="1"/>
          <p:nvPr/>
        </p:nvSpPr>
        <p:spPr>
          <a:xfrm>
            <a:off x="4851400" y="2425700"/>
            <a:ext cx="190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846C5C"/>
                </a:solidFill>
                <a:latin typeface="Aptos" panose="020B0004020202020204" pitchFamily="34" charset="0"/>
              </a:rPr>
              <a:t>DECISION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7C2EB8-F568-6176-CE02-76E545868177}"/>
              </a:ext>
            </a:extLst>
          </p:cNvPr>
          <p:cNvSpPr txBox="1"/>
          <p:nvPr/>
        </p:nvSpPr>
        <p:spPr>
          <a:xfrm>
            <a:off x="8724900" y="2425700"/>
            <a:ext cx="190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846C5C"/>
                </a:solidFill>
                <a:latin typeface="Aptos" panose="020B0004020202020204" pitchFamily="34" charset="0"/>
              </a:rPr>
              <a:t>ACTION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22A8106-ADBD-10E6-4591-EEC6FEC5C4C3}"/>
              </a:ext>
            </a:extLst>
          </p:cNvPr>
          <p:cNvSpPr/>
          <p:nvPr/>
        </p:nvSpPr>
        <p:spPr>
          <a:xfrm>
            <a:off x="558800" y="2730500"/>
            <a:ext cx="2921000" cy="2692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EE3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BBF0A2-CCC5-C4DD-84D9-C86CDC59212A}"/>
              </a:ext>
            </a:extLst>
          </p:cNvPr>
          <p:cNvSpPr txBox="1"/>
          <p:nvPr/>
        </p:nvSpPr>
        <p:spPr>
          <a:xfrm>
            <a:off x="812800" y="3009900"/>
            <a:ext cx="2032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500" b="1">
                <a:solidFill>
                  <a:srgbClr val="3E2719"/>
                </a:solidFill>
                <a:latin typeface="Aptos" panose="020B0004020202020204" pitchFamily="34" charset="0"/>
              </a:rPr>
              <a:t>Student context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49DAD2-E456-279F-8AE2-63B90453E79B}"/>
              </a:ext>
            </a:extLst>
          </p:cNvPr>
          <p:cNvSpPr txBox="1"/>
          <p:nvPr/>
        </p:nvSpPr>
        <p:spPr>
          <a:xfrm>
            <a:off x="812800" y="3467100"/>
            <a:ext cx="2286000" cy="101566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846C5C"/>
                </a:solidFill>
                <a:latin typeface="Aptos" panose="020B0004020202020204" pitchFamily="34" charset="0"/>
              </a:rPr>
              <a:t> Timetable &amp; free slots
 Fitness goal &amp; level
 Preferred activity / duration
 Circle availability
 Weather &amp; AQI
 Campus locations</a:t>
            </a:r>
            <a:endParaRPr lang="en-IN" sz="1100">
              <a:solidFill>
                <a:srgbClr val="846C5C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98A155C-8847-CCAF-BC0D-5C6CDB46819C}"/>
              </a:ext>
            </a:extLst>
          </p:cNvPr>
          <p:cNvSpPr/>
          <p:nvPr/>
        </p:nvSpPr>
        <p:spPr>
          <a:xfrm>
            <a:off x="4470400" y="2730500"/>
            <a:ext cx="3302000" cy="2692400"/>
          </a:xfrm>
          <a:prstGeom prst="roundRect">
            <a:avLst>
              <a:gd name="adj" fmla="val 10000"/>
            </a:avLst>
          </a:prstGeom>
          <a:solidFill>
            <a:srgbClr val="321C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C960FF-2CBA-0AC3-263A-51DAF63AC87F}"/>
              </a:ext>
            </a:extLst>
          </p:cNvPr>
          <p:cNvSpPr txBox="1"/>
          <p:nvPr/>
        </p:nvSpPr>
        <p:spPr>
          <a:xfrm>
            <a:off x="4749800" y="3022600"/>
            <a:ext cx="2730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500" b="1">
                <a:solidFill>
                  <a:srgbClr val="FFFFFF"/>
                </a:solidFill>
                <a:latin typeface="Aptos" panose="020B0004020202020204" pitchFamily="34" charset="0"/>
              </a:rPr>
              <a:t>FitSaathi decision layer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52A55D-923C-745A-ACCD-E4D3E8C5AAE1}"/>
              </a:ext>
            </a:extLst>
          </p:cNvPr>
          <p:cNvSpPr txBox="1"/>
          <p:nvPr/>
        </p:nvSpPr>
        <p:spPr>
          <a:xfrm>
            <a:off x="4749800" y="3530600"/>
            <a:ext cx="25781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F2DCCF"/>
                </a:solidFill>
                <a:latin typeface="Aptos" panose="020B0004020202020204" pitchFamily="34" charset="0"/>
              </a:rPr>
              <a:t>Fit Window Engine
Finds the strongest available slot.
Smart Quest Planner
Selects a realistic next activity.</a:t>
            </a:r>
            <a:endParaRPr lang="en-IN" sz="1200">
              <a:solidFill>
                <a:srgbClr val="F2DCCF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9524F6B-0449-7896-F5AB-F56AC5F2799F}"/>
              </a:ext>
            </a:extLst>
          </p:cNvPr>
          <p:cNvSpPr/>
          <p:nvPr/>
        </p:nvSpPr>
        <p:spPr>
          <a:xfrm>
            <a:off x="8763000" y="2730500"/>
            <a:ext cx="2870200" cy="2692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EE3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FDAD03-AFA1-AE93-03DB-E1E60425D3D5}"/>
              </a:ext>
            </a:extLst>
          </p:cNvPr>
          <p:cNvSpPr txBox="1"/>
          <p:nvPr/>
        </p:nvSpPr>
        <p:spPr>
          <a:xfrm>
            <a:off x="9029700" y="3009900"/>
            <a:ext cx="2032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500" b="1">
                <a:solidFill>
                  <a:srgbClr val="3E2719"/>
                </a:solidFill>
                <a:latin typeface="Aptos" panose="020B0004020202020204" pitchFamily="34" charset="0"/>
              </a:rPr>
              <a:t>Student action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E30611-0677-7BE4-EDCA-F700F8D1130F}"/>
              </a:ext>
            </a:extLst>
          </p:cNvPr>
          <p:cNvSpPr txBox="1"/>
          <p:nvPr/>
        </p:nvSpPr>
        <p:spPr>
          <a:xfrm>
            <a:off x="9029700" y="3467100"/>
            <a:ext cx="2159000" cy="8463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846C5C"/>
                </a:solidFill>
                <a:latin typeface="Aptos" panose="020B0004020202020204" pitchFamily="34" charset="0"/>
              </a:rPr>
              <a:t> Start a quest
 Choose a FitRoute spot
 Join a circle challenge
 Track a GPS session
 Start a Squad Session</a:t>
            </a:r>
            <a:endParaRPr lang="en-IN" sz="1100">
              <a:solidFill>
                <a:srgbClr val="846C5C"/>
              </a:solidFill>
              <a:latin typeface="Aptos" panose="020B000402020202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68FC9E3-0B51-D6B0-1A9A-B56CD03514C3}"/>
              </a:ext>
            </a:extLst>
          </p:cNvPr>
          <p:cNvCxnSpPr/>
          <p:nvPr/>
        </p:nvCxnSpPr>
        <p:spPr>
          <a:xfrm>
            <a:off x="3606800" y="4076700"/>
            <a:ext cx="736600" cy="0"/>
          </a:xfrm>
          <a:prstGeom prst="line">
            <a:avLst/>
          </a:prstGeom>
          <a:ln w="29210">
            <a:solidFill>
              <a:srgbClr val="EE68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1DB1E0B-520A-1157-980F-928EC042DC51}"/>
              </a:ext>
            </a:extLst>
          </p:cNvPr>
          <p:cNvCxnSpPr/>
          <p:nvPr/>
        </p:nvCxnSpPr>
        <p:spPr>
          <a:xfrm>
            <a:off x="7899400" y="4076700"/>
            <a:ext cx="736600" cy="0"/>
          </a:xfrm>
          <a:prstGeom prst="line">
            <a:avLst/>
          </a:prstGeom>
          <a:ln w="29210">
            <a:solidFill>
              <a:srgbClr val="EE68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9079453-C52E-08D3-4425-C7022F9B3498}"/>
              </a:ext>
            </a:extLst>
          </p:cNvPr>
          <p:cNvSpPr/>
          <p:nvPr/>
        </p:nvSpPr>
        <p:spPr>
          <a:xfrm>
            <a:off x="2044700" y="5956300"/>
            <a:ext cx="8051800" cy="292100"/>
          </a:xfrm>
          <a:prstGeom prst="roundRect">
            <a:avLst>
              <a:gd name="adj" fmla="val 25000"/>
            </a:avLst>
          </a:prstGeom>
          <a:solidFill>
            <a:srgbClr val="EBF6D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1E362D-6607-C428-D6D0-FFFFEB689184}"/>
              </a:ext>
            </a:extLst>
          </p:cNvPr>
          <p:cNvSpPr txBox="1"/>
          <p:nvPr/>
        </p:nvSpPr>
        <p:spPr>
          <a:xfrm>
            <a:off x="2171700" y="6019800"/>
            <a:ext cx="7797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>
                <a:solidFill>
                  <a:srgbClr val="679117"/>
                </a:solidFill>
                <a:latin typeface="Aptos" panose="020B0004020202020204" pitchFamily="34" charset="0"/>
              </a:rPr>
              <a:t>Trust layer: source weighting  GPS plausibility checks  peer verification</a:t>
            </a:r>
            <a:endParaRPr lang="en-IN" sz="950" b="1">
              <a:solidFill>
                <a:srgbClr val="679117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852985-51C2-529E-DFCC-80672BC1EDFD}"/>
              </a:ext>
            </a:extLst>
          </p:cNvPr>
          <p:cNvSpPr txBox="1"/>
          <p:nvPr/>
        </p:nvSpPr>
        <p:spPr>
          <a:xfrm>
            <a:off x="558800" y="6845300"/>
            <a:ext cx="1104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1000">
                <a:solidFill>
                  <a:srgbClr val="846C5C"/>
                </a:solidFill>
                <a:latin typeface="Aptos" panose="020B0004020202020204" pitchFamily="34" charset="0"/>
              </a:rPr>
              <a:t>Next.js + TypeScript    Supabase Auth / Postgres / Realtime / Storage    MapLibre + OpenStreetMap    Open-Meteo    PWA</a:t>
            </a:r>
          </a:p>
        </p:txBody>
      </p:sp>
    </p:spTree>
    <p:extLst>
      <p:ext uri="{BB962C8B-B14F-4D97-AF65-F5344CB8AC3E}">
        <p14:creationId xmlns:p14="http://schemas.microsoft.com/office/powerpoint/2010/main" val="567742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1231B9-8685-B1CB-9B38-705924B9C4BE}"/>
              </a:ext>
            </a:extLst>
          </p:cNvPr>
          <p:cNvSpPr txBox="1"/>
          <p:nvPr/>
        </p:nvSpPr>
        <p:spPr>
          <a:xfrm>
            <a:off x="558800" y="355600"/>
            <a:ext cx="139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EE6826"/>
                </a:solidFill>
                <a:latin typeface="Aptos Display" panose="020B0004020202020204" pitchFamily="34" charset="0"/>
              </a:rPr>
              <a:t>FITSAATHI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1E423B-6BAF-E480-55B3-F9981620F52D}"/>
              </a:ext>
            </a:extLst>
          </p:cNvPr>
          <p:cNvSpPr txBox="1"/>
          <p:nvPr/>
        </p:nvSpPr>
        <p:spPr>
          <a:xfrm>
            <a:off x="558800" y="6604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E7CBB9"/>
                </a:solidFill>
                <a:latin typeface="Aptos" panose="020B0004020202020204" pitchFamily="34" charset="0"/>
              </a:rPr>
              <a:t>POTENTIAL CHALLENGES  AND OUR ANSWER</a:t>
            </a:r>
            <a:endParaRPr lang="en-IN" sz="1000" b="1">
              <a:solidFill>
                <a:srgbClr val="E7CBB9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6B2941-8625-BF79-1C7A-71151D8A1E96}"/>
              </a:ext>
            </a:extLst>
          </p:cNvPr>
          <p:cNvSpPr txBox="1"/>
          <p:nvPr/>
        </p:nvSpPr>
        <p:spPr>
          <a:xfrm>
            <a:off x="11226800" y="355600"/>
            <a:ext cx="40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1000" b="1">
                <a:solidFill>
                  <a:srgbClr val="E7CBB9"/>
                </a:solidFill>
                <a:latin typeface="Aptos" panose="020B0004020202020204" pitchFamily="34" charset="0"/>
              </a:rPr>
              <a:t>04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EFBFD39-27C3-F239-8DE0-D0D913A0036A}"/>
              </a:ext>
            </a:extLst>
          </p:cNvPr>
          <p:cNvCxnSpPr/>
          <p:nvPr/>
        </p:nvCxnSpPr>
        <p:spPr>
          <a:xfrm>
            <a:off x="558800" y="965200"/>
            <a:ext cx="11074400" cy="0"/>
          </a:xfrm>
          <a:prstGeom prst="line">
            <a:avLst/>
          </a:prstGeom>
          <a:ln w="12700">
            <a:solidFill>
              <a:srgbClr val="7454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C56D435-D003-E10A-DBE9-7FD18C5365A5}"/>
              </a:ext>
            </a:extLst>
          </p:cNvPr>
          <p:cNvSpPr txBox="1"/>
          <p:nvPr/>
        </p:nvSpPr>
        <p:spPr>
          <a:xfrm>
            <a:off x="558800" y="13335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Aptos" panose="020B0004020202020204" pitchFamily="34" charset="0"/>
              </a:rPr>
              <a:t>Designed for a credible campus pilot, not a feature wish-list.</a:t>
            </a:r>
            <a:endParaRPr lang="en-IN" sz="24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2DAC3DD-D451-F375-C2E6-B290D8AE9FE5}"/>
              </a:ext>
            </a:extLst>
          </p:cNvPr>
          <p:cNvSpPr/>
          <p:nvPr/>
        </p:nvSpPr>
        <p:spPr>
          <a:xfrm>
            <a:off x="558800" y="2260600"/>
            <a:ext cx="5257800" cy="1854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EE3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D24186F-D89E-43D5-A93E-A11E3C03D7B3}"/>
              </a:ext>
            </a:extLst>
          </p:cNvPr>
          <p:cNvSpPr/>
          <p:nvPr/>
        </p:nvSpPr>
        <p:spPr>
          <a:xfrm>
            <a:off x="787400" y="2476500"/>
            <a:ext cx="419100" cy="419100"/>
          </a:xfrm>
          <a:prstGeom prst="roundRect">
            <a:avLst>
              <a:gd name="adj" fmla="val 20000"/>
            </a:avLst>
          </a:prstGeom>
          <a:solidFill>
            <a:srgbClr val="EBF6D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C06E14-F87A-FCC0-6882-63F11E1C26B8}"/>
              </a:ext>
            </a:extLst>
          </p:cNvPr>
          <p:cNvSpPr txBox="1"/>
          <p:nvPr/>
        </p:nvSpPr>
        <p:spPr>
          <a:xfrm>
            <a:off x="787400" y="2540000"/>
            <a:ext cx="4191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1400" b="1">
                <a:solidFill>
                  <a:srgbClr val="679117"/>
                </a:solidFill>
                <a:latin typeface="Segoe UI Symbol" panose="020B0502040204020203" pitchFamily="34" charset="0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30CD06-D17A-A389-9132-F28764113841}"/>
              </a:ext>
            </a:extLst>
          </p:cNvPr>
          <p:cNvSpPr txBox="1"/>
          <p:nvPr/>
        </p:nvSpPr>
        <p:spPr>
          <a:xfrm>
            <a:off x="1346200" y="2501900"/>
            <a:ext cx="4241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 b="1">
                <a:solidFill>
                  <a:srgbClr val="3E2719"/>
                </a:solidFill>
                <a:latin typeface="Aptos" panose="020B0004020202020204" pitchFamily="34" charset="0"/>
              </a:rPr>
              <a:t>Can activity be faked?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2D2888-DC31-7B91-7D8A-1EF006BEC3EF}"/>
              </a:ext>
            </a:extLst>
          </p:cNvPr>
          <p:cNvSpPr txBox="1"/>
          <p:nvPr/>
        </p:nvSpPr>
        <p:spPr>
          <a:xfrm>
            <a:off x="787400" y="3035300"/>
            <a:ext cx="4800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846C5C"/>
                </a:solidFill>
                <a:latin typeface="Aptos" panose="020B0004020202020204" pitchFamily="34" charset="0"/>
              </a:rPr>
              <a:t>We distinguish manual, quest, GPS and squad sources. GPS sessions reject implausible pace; co-located squads earn peer-verified status.</a:t>
            </a:r>
            <a:endParaRPr lang="en-IN" sz="1050">
              <a:solidFill>
                <a:srgbClr val="846C5C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0748A4B-E06B-6086-38B8-A7C5E541DEF0}"/>
              </a:ext>
            </a:extLst>
          </p:cNvPr>
          <p:cNvSpPr/>
          <p:nvPr/>
        </p:nvSpPr>
        <p:spPr>
          <a:xfrm>
            <a:off x="6362700" y="2260600"/>
            <a:ext cx="5257800" cy="1854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EE3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DA2AE2F-AB7B-9B65-5A8B-A9261A90B765}"/>
              </a:ext>
            </a:extLst>
          </p:cNvPr>
          <p:cNvSpPr/>
          <p:nvPr/>
        </p:nvSpPr>
        <p:spPr>
          <a:xfrm>
            <a:off x="6591300" y="2476500"/>
            <a:ext cx="419100" cy="419100"/>
          </a:xfrm>
          <a:prstGeom prst="roundRect">
            <a:avLst>
              <a:gd name="adj" fmla="val 20000"/>
            </a:avLst>
          </a:prstGeom>
          <a:solidFill>
            <a:srgbClr val="FFEC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ED0D3A-7A8C-FA2C-7C1C-3BBCA2F19201}"/>
              </a:ext>
            </a:extLst>
          </p:cNvPr>
          <p:cNvSpPr txBox="1"/>
          <p:nvPr/>
        </p:nvSpPr>
        <p:spPr>
          <a:xfrm>
            <a:off x="6591300" y="2540000"/>
            <a:ext cx="4191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1400" b="1">
                <a:solidFill>
                  <a:srgbClr val="EE6826"/>
                </a:solidFill>
                <a:latin typeface="Segoe UI Symbol" panose="020B0502040204020203" pitchFamily="34" charset="0"/>
              </a:rPr>
              <a:t>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A3E3D2-A298-6E5D-8FC9-4509EDC7D6E8}"/>
              </a:ext>
            </a:extLst>
          </p:cNvPr>
          <p:cNvSpPr txBox="1"/>
          <p:nvPr/>
        </p:nvSpPr>
        <p:spPr>
          <a:xfrm>
            <a:off x="7150100" y="2501900"/>
            <a:ext cx="4241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3E2719"/>
                </a:solidFill>
                <a:latin typeface="Aptos" panose="020B0004020202020204" pitchFamily="34" charset="0"/>
              </a:rPr>
              <a:t>Does AI make opaque decisions?</a:t>
            </a:r>
            <a:endParaRPr lang="en-IN" sz="1400" b="1">
              <a:solidFill>
                <a:srgbClr val="3E2719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01A39F-EB44-6F61-ACD9-6D21FD538808}"/>
              </a:ext>
            </a:extLst>
          </p:cNvPr>
          <p:cNvSpPr txBox="1"/>
          <p:nvPr/>
        </p:nvSpPr>
        <p:spPr>
          <a:xfrm>
            <a:off x="6591300" y="3035300"/>
            <a:ext cx="4800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846C5C"/>
                </a:solidFill>
                <a:latin typeface="Aptos" panose="020B0004020202020204" pitchFamily="34" charset="0"/>
              </a:rPr>
              <a:t>No. Quest choice stays with transparent, testable rules. Gemini is optional and only writes personal quest content.</a:t>
            </a:r>
            <a:endParaRPr lang="en-IN" sz="1050">
              <a:solidFill>
                <a:srgbClr val="846C5C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E36D77C-FE38-83C2-AFEA-6EC363CD69AC}"/>
              </a:ext>
            </a:extLst>
          </p:cNvPr>
          <p:cNvSpPr/>
          <p:nvPr/>
        </p:nvSpPr>
        <p:spPr>
          <a:xfrm>
            <a:off x="558800" y="4508500"/>
            <a:ext cx="5257800" cy="1854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EE3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BD3609D-5B22-F3FE-0B6B-DE3BF23C6A07}"/>
              </a:ext>
            </a:extLst>
          </p:cNvPr>
          <p:cNvSpPr/>
          <p:nvPr/>
        </p:nvSpPr>
        <p:spPr>
          <a:xfrm>
            <a:off x="787400" y="4724400"/>
            <a:ext cx="419100" cy="419100"/>
          </a:xfrm>
          <a:prstGeom prst="roundRect">
            <a:avLst>
              <a:gd name="adj" fmla="val 20000"/>
            </a:avLst>
          </a:prstGeom>
          <a:solidFill>
            <a:srgbClr val="FFE7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DDC110-358C-10E6-8A29-85751481E4AB}"/>
              </a:ext>
            </a:extLst>
          </p:cNvPr>
          <p:cNvSpPr txBox="1"/>
          <p:nvPr/>
        </p:nvSpPr>
        <p:spPr>
          <a:xfrm>
            <a:off x="787400" y="4787900"/>
            <a:ext cx="4191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1400" b="1">
                <a:solidFill>
                  <a:srgbClr val="C9457B"/>
                </a:solidFill>
                <a:latin typeface="Segoe UI Symbol" panose="020B0502040204020203" pitchFamily="34" charset="0"/>
              </a:rPr>
              <a:t>03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44536C-1D1F-2E50-A63D-2DD81CEC27D7}"/>
              </a:ext>
            </a:extLst>
          </p:cNvPr>
          <p:cNvSpPr txBox="1"/>
          <p:nvPr/>
        </p:nvSpPr>
        <p:spPr>
          <a:xfrm>
            <a:off x="1346200" y="4749800"/>
            <a:ext cx="4241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3E2719"/>
                </a:solidFill>
                <a:latin typeface="Aptos" panose="020B0004020202020204" pitchFamily="34" charset="0"/>
              </a:rPr>
              <a:t>What about data and privacy?</a:t>
            </a:r>
            <a:endParaRPr lang="en-IN" sz="1400" b="1">
              <a:solidFill>
                <a:srgbClr val="3E2719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1FB00C-1D07-005B-021C-BDBE8B78D2E5}"/>
              </a:ext>
            </a:extLst>
          </p:cNvPr>
          <p:cNvSpPr txBox="1"/>
          <p:nvPr/>
        </p:nvSpPr>
        <p:spPr>
          <a:xfrm>
            <a:off x="787400" y="5283200"/>
            <a:ext cx="4800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846C5C"/>
                </a:solidFill>
                <a:latin typeface="Aptos" panose="020B0004020202020204" pitchFamily="34" charset="0"/>
              </a:rPr>
              <a:t>No wearable is required. RLS scopes student data; coordinators receive anonymised aggregate statistics, not individual surveillance.</a:t>
            </a:r>
            <a:endParaRPr lang="en-IN" sz="1050">
              <a:solidFill>
                <a:srgbClr val="846C5C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433EFE4-674B-D069-9DDB-27D17A56D3EC}"/>
              </a:ext>
            </a:extLst>
          </p:cNvPr>
          <p:cNvSpPr/>
          <p:nvPr/>
        </p:nvSpPr>
        <p:spPr>
          <a:xfrm>
            <a:off x="6362700" y="4508500"/>
            <a:ext cx="5257800" cy="1854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EE3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6664FB1-9FCD-12DD-785B-BC03746570AD}"/>
              </a:ext>
            </a:extLst>
          </p:cNvPr>
          <p:cNvSpPr/>
          <p:nvPr/>
        </p:nvSpPr>
        <p:spPr>
          <a:xfrm>
            <a:off x="6591300" y="4724400"/>
            <a:ext cx="419100" cy="419100"/>
          </a:xfrm>
          <a:prstGeom prst="roundRect">
            <a:avLst>
              <a:gd name="adj" fmla="val 20000"/>
            </a:avLst>
          </a:prstGeom>
          <a:solidFill>
            <a:srgbClr val="D7F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005492-8F17-4381-5E89-08C255341699}"/>
              </a:ext>
            </a:extLst>
          </p:cNvPr>
          <p:cNvSpPr txBox="1"/>
          <p:nvPr/>
        </p:nvSpPr>
        <p:spPr>
          <a:xfrm>
            <a:off x="6591300" y="4787900"/>
            <a:ext cx="4191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1400" b="1">
                <a:solidFill>
                  <a:srgbClr val="166AAE"/>
                </a:solidFill>
                <a:latin typeface="Segoe UI Symbol" panose="020B0502040204020203" pitchFamily="34" charset="0"/>
              </a:rPr>
              <a:t>04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1A1D22-B03F-611A-522C-8C556F2D3B2D}"/>
              </a:ext>
            </a:extLst>
          </p:cNvPr>
          <p:cNvSpPr txBox="1"/>
          <p:nvPr/>
        </p:nvSpPr>
        <p:spPr>
          <a:xfrm>
            <a:off x="7150100" y="4749800"/>
            <a:ext cx="4241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3E2719"/>
                </a:solidFill>
                <a:latin typeface="Aptos" panose="020B0004020202020204" pitchFamily="34" charset="0"/>
              </a:rPr>
              <a:t>Will it work on a student phone?</a:t>
            </a:r>
            <a:endParaRPr lang="en-IN" sz="1400" b="1">
              <a:solidFill>
                <a:srgbClr val="3E2719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70D073-B782-308B-1BBD-C90216FB8D60}"/>
              </a:ext>
            </a:extLst>
          </p:cNvPr>
          <p:cNvSpPr txBox="1"/>
          <p:nvPr/>
        </p:nvSpPr>
        <p:spPr>
          <a:xfrm>
            <a:off x="6591300" y="5283200"/>
            <a:ext cx="4800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846C5C"/>
                </a:solidFill>
                <a:latin typeface="Aptos" panose="020B0004020202020204" pitchFamily="34" charset="0"/>
              </a:rPr>
              <a:t>Installable PWA, offline cache, OpenStreetMap and Open-Meteo keep the core experience lightweight and low-cost.</a:t>
            </a:r>
            <a:endParaRPr lang="en-IN" sz="1050">
              <a:solidFill>
                <a:srgbClr val="846C5C"/>
              </a:solidFill>
              <a:latin typeface="Aptos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EDF692-3935-21C1-4A01-518F27BF6FCF}"/>
              </a:ext>
            </a:extLst>
          </p:cNvPr>
          <p:cNvSpPr txBox="1"/>
          <p:nvPr/>
        </p:nvSpPr>
        <p:spPr>
          <a:xfrm>
            <a:off x="558800" y="6832600"/>
            <a:ext cx="1104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E7CBB9"/>
                </a:solidFill>
                <a:latin typeface="Aptos" panose="020B0004020202020204" pitchFamily="34" charset="0"/>
              </a:rPr>
              <a:t>Honest boundary: peer verification raises the cost of cheating; it does not claim to eliminate collusion.</a:t>
            </a:r>
            <a:endParaRPr lang="en-IN" sz="1000">
              <a:solidFill>
                <a:srgbClr val="E7CBB9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359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4A031A-ED9D-C1F3-53E8-03EEF92988DA}"/>
              </a:ext>
            </a:extLst>
          </p:cNvPr>
          <p:cNvSpPr txBox="1"/>
          <p:nvPr/>
        </p:nvSpPr>
        <p:spPr>
          <a:xfrm>
            <a:off x="558800" y="355600"/>
            <a:ext cx="139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EE6826"/>
                </a:solidFill>
                <a:latin typeface="Aptos Display" panose="020B0004020202020204" pitchFamily="34" charset="0"/>
              </a:rPr>
              <a:t>FITSAATHI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EE0CD3-D6BE-716D-89B2-DB2981A6FFDD}"/>
              </a:ext>
            </a:extLst>
          </p:cNvPr>
          <p:cNvSpPr txBox="1"/>
          <p:nvPr/>
        </p:nvSpPr>
        <p:spPr>
          <a:xfrm>
            <a:off x="558800" y="6604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846C5C"/>
                </a:solidFill>
                <a:latin typeface="Aptos" panose="020B0004020202020204" pitchFamily="34" charset="0"/>
              </a:rPr>
              <a:t>PROTOTYPE, DEMO AND ROADMAP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57961D-F846-BD16-9851-501A3773C851}"/>
              </a:ext>
            </a:extLst>
          </p:cNvPr>
          <p:cNvSpPr txBox="1"/>
          <p:nvPr/>
        </p:nvSpPr>
        <p:spPr>
          <a:xfrm>
            <a:off x="11226800" y="355600"/>
            <a:ext cx="40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1000" b="1">
                <a:solidFill>
                  <a:srgbClr val="846C5C"/>
                </a:solidFill>
                <a:latin typeface="Aptos" panose="020B0004020202020204" pitchFamily="34" charset="0"/>
              </a:rPr>
              <a:t>05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A01F37E-B884-65C4-B05D-1598DA9F3E37}"/>
              </a:ext>
            </a:extLst>
          </p:cNvPr>
          <p:cNvCxnSpPr/>
          <p:nvPr/>
        </p:nvCxnSpPr>
        <p:spPr>
          <a:xfrm>
            <a:off x="558800" y="965200"/>
            <a:ext cx="11074400" cy="0"/>
          </a:xfrm>
          <a:prstGeom prst="line">
            <a:avLst/>
          </a:prstGeom>
          <a:ln w="12700">
            <a:solidFill>
              <a:srgbClr val="EEE3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CC384FD-FA47-A5E1-3F24-3D930ED74C60}"/>
              </a:ext>
            </a:extLst>
          </p:cNvPr>
          <p:cNvSpPr txBox="1"/>
          <p:nvPr/>
        </p:nvSpPr>
        <p:spPr>
          <a:xfrm>
            <a:off x="558800" y="1270000"/>
            <a:ext cx="9652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 b="1">
                <a:solidFill>
                  <a:srgbClr val="3E2719"/>
                </a:solidFill>
                <a:latin typeface="Aptos" panose="020B0004020202020204" pitchFamily="34" charset="0"/>
              </a:rPr>
              <a:t>A complete product flow that can be demonstrated on two devices.</a:t>
            </a:r>
            <a:endParaRPr lang="en-IN" sz="2300" b="1">
              <a:solidFill>
                <a:srgbClr val="3E2719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B2C736-910B-56EA-5328-1A5B5530205D}"/>
              </a:ext>
            </a:extLst>
          </p:cNvPr>
          <p:cNvSpPr txBox="1"/>
          <p:nvPr/>
        </p:nvSpPr>
        <p:spPr>
          <a:xfrm>
            <a:off x="558800" y="2019300"/>
            <a:ext cx="215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EE6826"/>
                </a:solidFill>
                <a:latin typeface="Aptos" panose="020B0004020202020204" pitchFamily="34" charset="0"/>
              </a:rPr>
              <a:t>DEMO FLOW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AE46DC0-D763-3547-1BED-D0110F8E0731}"/>
              </a:ext>
            </a:extLst>
          </p:cNvPr>
          <p:cNvSpPr/>
          <p:nvPr/>
        </p:nvSpPr>
        <p:spPr>
          <a:xfrm>
            <a:off x="558800" y="2438400"/>
            <a:ext cx="2565400" cy="2336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EE3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C7D2CFE-29DD-40CF-215D-9BD91067E62A}"/>
              </a:ext>
            </a:extLst>
          </p:cNvPr>
          <p:cNvSpPr/>
          <p:nvPr/>
        </p:nvSpPr>
        <p:spPr>
          <a:xfrm>
            <a:off x="787400" y="2679700"/>
            <a:ext cx="419100" cy="419100"/>
          </a:xfrm>
          <a:prstGeom prst="ellipse">
            <a:avLst/>
          </a:prstGeom>
          <a:solidFill>
            <a:srgbClr val="FFEC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1E12ED-D8C6-0B30-B519-0A947269F0B4}"/>
              </a:ext>
            </a:extLst>
          </p:cNvPr>
          <p:cNvSpPr txBox="1"/>
          <p:nvPr/>
        </p:nvSpPr>
        <p:spPr>
          <a:xfrm>
            <a:off x="787400" y="2768600"/>
            <a:ext cx="4191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1100" b="1">
                <a:solidFill>
                  <a:srgbClr val="EE6826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681DCA-F7D5-79D7-DC42-28F1BC847C7A}"/>
              </a:ext>
            </a:extLst>
          </p:cNvPr>
          <p:cNvSpPr txBox="1"/>
          <p:nvPr/>
        </p:nvSpPr>
        <p:spPr>
          <a:xfrm>
            <a:off x="787400" y="3302000"/>
            <a:ext cx="2006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 b="1">
                <a:solidFill>
                  <a:srgbClr val="3E2719"/>
                </a:solidFill>
                <a:latin typeface="Aptos" panose="020B0004020202020204" pitchFamily="34" charset="0"/>
              </a:rPr>
              <a:t>Onboard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C6CD53-64E7-D9CA-A27B-3DC54E61A867}"/>
              </a:ext>
            </a:extLst>
          </p:cNvPr>
          <p:cNvSpPr txBox="1"/>
          <p:nvPr/>
        </p:nvSpPr>
        <p:spPr>
          <a:xfrm>
            <a:off x="787400" y="3721100"/>
            <a:ext cx="2082800" cy="3139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846C5C"/>
                </a:solidFill>
                <a:latin typeface="Aptos" panose="020B0004020202020204" pitchFamily="34" charset="0"/>
              </a:rPr>
              <a:t>Goal, fitness level, preferences and free timetable slots.</a:t>
            </a:r>
            <a:endParaRPr lang="en-IN" sz="1020">
              <a:solidFill>
                <a:srgbClr val="846C5C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80DA13F-73A6-E126-C298-C0A35CE0ED4C}"/>
              </a:ext>
            </a:extLst>
          </p:cNvPr>
          <p:cNvSpPr/>
          <p:nvPr/>
        </p:nvSpPr>
        <p:spPr>
          <a:xfrm>
            <a:off x="3327400" y="2438400"/>
            <a:ext cx="2565400" cy="2336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EE3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5858437-7936-8B29-33F1-3E95BA262650}"/>
              </a:ext>
            </a:extLst>
          </p:cNvPr>
          <p:cNvSpPr/>
          <p:nvPr/>
        </p:nvSpPr>
        <p:spPr>
          <a:xfrm>
            <a:off x="3556000" y="2679700"/>
            <a:ext cx="419100" cy="419100"/>
          </a:xfrm>
          <a:prstGeom prst="ellipse">
            <a:avLst/>
          </a:prstGeom>
          <a:solidFill>
            <a:srgbClr val="EBF6D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71E22D-2FF7-2DE3-0856-61A05AA689D5}"/>
              </a:ext>
            </a:extLst>
          </p:cNvPr>
          <p:cNvSpPr txBox="1"/>
          <p:nvPr/>
        </p:nvSpPr>
        <p:spPr>
          <a:xfrm>
            <a:off x="3556000" y="2768600"/>
            <a:ext cx="4191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1100" b="1">
                <a:solidFill>
                  <a:srgbClr val="679117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B91B7B-3679-3BD1-66A6-5FBC57530593}"/>
              </a:ext>
            </a:extLst>
          </p:cNvPr>
          <p:cNvSpPr txBox="1"/>
          <p:nvPr/>
        </p:nvSpPr>
        <p:spPr>
          <a:xfrm>
            <a:off x="3556000" y="3302000"/>
            <a:ext cx="2006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 b="1">
                <a:solidFill>
                  <a:srgbClr val="3E2719"/>
                </a:solidFill>
                <a:latin typeface="Aptos" panose="020B0004020202020204" pitchFamily="34" charset="0"/>
              </a:rPr>
              <a:t>Discover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2C1D59-E4EF-F1CE-B903-DE374856580B}"/>
              </a:ext>
            </a:extLst>
          </p:cNvPr>
          <p:cNvSpPr txBox="1"/>
          <p:nvPr/>
        </p:nvSpPr>
        <p:spPr>
          <a:xfrm>
            <a:off x="3556000" y="3721100"/>
            <a:ext cx="2082800" cy="3139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846C5C"/>
                </a:solidFill>
                <a:latin typeface="Aptos" panose="020B0004020202020204" pitchFamily="34" charset="0"/>
              </a:rPr>
              <a:t>Fit Window suggests the right activity and FitRoute suggests the place.</a:t>
            </a:r>
            <a:endParaRPr lang="en-IN" sz="1020">
              <a:solidFill>
                <a:srgbClr val="846C5C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51D3CE6-6C53-D9F6-B401-B210E90099F4}"/>
              </a:ext>
            </a:extLst>
          </p:cNvPr>
          <p:cNvSpPr/>
          <p:nvPr/>
        </p:nvSpPr>
        <p:spPr>
          <a:xfrm>
            <a:off x="6096000" y="2438400"/>
            <a:ext cx="2565400" cy="2336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EE3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D4D5D99-6732-E50D-B6B0-53FE301492F1}"/>
              </a:ext>
            </a:extLst>
          </p:cNvPr>
          <p:cNvSpPr/>
          <p:nvPr/>
        </p:nvSpPr>
        <p:spPr>
          <a:xfrm>
            <a:off x="6324600" y="2679700"/>
            <a:ext cx="419100" cy="419100"/>
          </a:xfrm>
          <a:prstGeom prst="ellipse">
            <a:avLst/>
          </a:prstGeom>
          <a:solidFill>
            <a:srgbClr val="FFE7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259A16-40C5-9D8D-1315-88E9328D2447}"/>
              </a:ext>
            </a:extLst>
          </p:cNvPr>
          <p:cNvSpPr txBox="1"/>
          <p:nvPr/>
        </p:nvSpPr>
        <p:spPr>
          <a:xfrm>
            <a:off x="6324600" y="2768600"/>
            <a:ext cx="4191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1100" b="1">
                <a:solidFill>
                  <a:srgbClr val="C9457B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717F6C-FDD4-08BB-9769-F42937DFBE09}"/>
              </a:ext>
            </a:extLst>
          </p:cNvPr>
          <p:cNvSpPr txBox="1"/>
          <p:nvPr/>
        </p:nvSpPr>
        <p:spPr>
          <a:xfrm>
            <a:off x="6324600" y="3302000"/>
            <a:ext cx="2006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 b="1">
                <a:solidFill>
                  <a:srgbClr val="3E2719"/>
                </a:solidFill>
                <a:latin typeface="Aptos" panose="020B0004020202020204" pitchFamily="34" charset="0"/>
              </a:rPr>
              <a:t>Move together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96059F-2944-C13F-A85E-4F36BE7C9426}"/>
              </a:ext>
            </a:extLst>
          </p:cNvPr>
          <p:cNvSpPr txBox="1"/>
          <p:nvPr/>
        </p:nvSpPr>
        <p:spPr>
          <a:xfrm>
            <a:off x="6324600" y="3721100"/>
            <a:ext cx="2082800" cy="3139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846C5C"/>
                </a:solidFill>
                <a:latin typeface="Aptos" panose="020B0004020202020204" pitchFamily="34" charset="0"/>
              </a:rPr>
              <a:t>Join a Fit Circle or start a shared GPS-based Squad Session.</a:t>
            </a:r>
            <a:endParaRPr lang="en-IN" sz="1020">
              <a:solidFill>
                <a:srgbClr val="846C5C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947EEB1-AD8C-D7F6-9B24-6735BCFC6C34}"/>
              </a:ext>
            </a:extLst>
          </p:cNvPr>
          <p:cNvSpPr/>
          <p:nvPr/>
        </p:nvSpPr>
        <p:spPr>
          <a:xfrm>
            <a:off x="8864600" y="2438400"/>
            <a:ext cx="2565400" cy="2336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EE3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6954EF5-D128-96A2-D4A4-C9DC04F4F1C8}"/>
              </a:ext>
            </a:extLst>
          </p:cNvPr>
          <p:cNvSpPr/>
          <p:nvPr/>
        </p:nvSpPr>
        <p:spPr>
          <a:xfrm>
            <a:off x="9093200" y="2679700"/>
            <a:ext cx="419100" cy="419100"/>
          </a:xfrm>
          <a:prstGeom prst="ellipse">
            <a:avLst/>
          </a:prstGeom>
          <a:solidFill>
            <a:srgbClr val="EEE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207DED-2C78-AB60-992E-C2834F3AD51E}"/>
              </a:ext>
            </a:extLst>
          </p:cNvPr>
          <p:cNvSpPr txBox="1"/>
          <p:nvPr/>
        </p:nvSpPr>
        <p:spPr>
          <a:xfrm>
            <a:off x="9093200" y="2768600"/>
            <a:ext cx="4191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1100" b="1">
                <a:solidFill>
                  <a:srgbClr val="6937CD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F0805D-7098-6AFA-D9BD-13AF1F434F69}"/>
              </a:ext>
            </a:extLst>
          </p:cNvPr>
          <p:cNvSpPr txBox="1"/>
          <p:nvPr/>
        </p:nvSpPr>
        <p:spPr>
          <a:xfrm>
            <a:off x="9093200" y="3302000"/>
            <a:ext cx="2006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 b="1">
                <a:solidFill>
                  <a:srgbClr val="3E2719"/>
                </a:solidFill>
                <a:latin typeface="Aptos" panose="020B0004020202020204" pitchFamily="34" charset="0"/>
              </a:rPr>
              <a:t>Prove progress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25C246-EF22-C61D-DC42-AC08C1B70CC9}"/>
              </a:ext>
            </a:extLst>
          </p:cNvPr>
          <p:cNvSpPr txBox="1"/>
          <p:nvPr/>
        </p:nvSpPr>
        <p:spPr>
          <a:xfrm>
            <a:off x="9093200" y="3721100"/>
            <a:ext cx="2082800" cy="3139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846C5C"/>
                </a:solidFill>
                <a:latin typeface="Aptos" panose="020B0004020202020204" pitchFamily="34" charset="0"/>
              </a:rPr>
              <a:t>Live board completes the session; server labels peer-verified activity.</a:t>
            </a:r>
            <a:endParaRPr lang="en-IN" sz="1020">
              <a:solidFill>
                <a:srgbClr val="846C5C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CA05C3-36DD-9AB3-94FC-CBE3147F0369}"/>
              </a:ext>
            </a:extLst>
          </p:cNvPr>
          <p:cNvSpPr txBox="1"/>
          <p:nvPr/>
        </p:nvSpPr>
        <p:spPr>
          <a:xfrm>
            <a:off x="558800" y="5384800"/>
            <a:ext cx="317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679117"/>
                </a:solidFill>
                <a:latin typeface="Aptos" panose="020B0004020202020204" pitchFamily="34" charset="0"/>
              </a:rPr>
              <a:t>DELIVERED IN THE PROTOTYPE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E06F258-1EF3-047C-F36F-32687CBCA15C}"/>
              </a:ext>
            </a:extLst>
          </p:cNvPr>
          <p:cNvSpPr/>
          <p:nvPr/>
        </p:nvSpPr>
        <p:spPr>
          <a:xfrm>
            <a:off x="558800" y="5740400"/>
            <a:ext cx="1727200" cy="292100"/>
          </a:xfrm>
          <a:prstGeom prst="roundRect">
            <a:avLst>
              <a:gd name="adj" fmla="val 25000"/>
            </a:avLst>
          </a:prstGeom>
          <a:solidFill>
            <a:srgbClr val="FFEC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4FE618-8E82-F33C-EB8F-40EDB8059088}"/>
              </a:ext>
            </a:extLst>
          </p:cNvPr>
          <p:cNvSpPr txBox="1"/>
          <p:nvPr/>
        </p:nvSpPr>
        <p:spPr>
          <a:xfrm>
            <a:off x="685800" y="5803900"/>
            <a:ext cx="14732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950" b="1">
                <a:solidFill>
                  <a:srgbClr val="EE6826"/>
                </a:solidFill>
                <a:latin typeface="Aptos" panose="020B0004020202020204" pitchFamily="34" charset="0"/>
              </a:rPr>
              <a:t>Smart Quest Planner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E6BF53B-CFB0-FF52-2334-4D2E96365ED9}"/>
              </a:ext>
            </a:extLst>
          </p:cNvPr>
          <p:cNvSpPr/>
          <p:nvPr/>
        </p:nvSpPr>
        <p:spPr>
          <a:xfrm>
            <a:off x="2451100" y="5740400"/>
            <a:ext cx="2082800" cy="292100"/>
          </a:xfrm>
          <a:prstGeom prst="roundRect">
            <a:avLst>
              <a:gd name="adj" fmla="val 25000"/>
            </a:avLst>
          </a:prstGeom>
          <a:solidFill>
            <a:srgbClr val="EBF6D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5E9738-24A7-A0FE-C9F0-C12E680DE301}"/>
              </a:ext>
            </a:extLst>
          </p:cNvPr>
          <p:cNvSpPr txBox="1"/>
          <p:nvPr/>
        </p:nvSpPr>
        <p:spPr>
          <a:xfrm>
            <a:off x="2578100" y="5803900"/>
            <a:ext cx="1828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950" b="1">
                <a:solidFill>
                  <a:srgbClr val="679117"/>
                </a:solidFill>
                <a:latin typeface="Aptos" panose="020B0004020202020204" pitchFamily="34" charset="0"/>
              </a:rPr>
              <a:t>FitRoute + Green Window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C0FDAE5-E212-1227-E5A3-B3387A3065AA}"/>
              </a:ext>
            </a:extLst>
          </p:cNvPr>
          <p:cNvSpPr/>
          <p:nvPr/>
        </p:nvSpPr>
        <p:spPr>
          <a:xfrm>
            <a:off x="4699000" y="5740400"/>
            <a:ext cx="2197100" cy="292100"/>
          </a:xfrm>
          <a:prstGeom prst="roundRect">
            <a:avLst>
              <a:gd name="adj" fmla="val 25000"/>
            </a:avLst>
          </a:prstGeom>
          <a:solidFill>
            <a:srgbClr val="FFE7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9A14A2-D13C-87FE-39B3-11CC0CCBA25E}"/>
              </a:ext>
            </a:extLst>
          </p:cNvPr>
          <p:cNvSpPr txBox="1"/>
          <p:nvPr/>
        </p:nvSpPr>
        <p:spPr>
          <a:xfrm>
            <a:off x="4826000" y="5803900"/>
            <a:ext cx="19431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950" b="1">
                <a:solidFill>
                  <a:srgbClr val="C9457B"/>
                </a:solidFill>
                <a:latin typeface="Aptos" panose="020B0004020202020204" pitchFamily="34" charset="0"/>
              </a:rPr>
              <a:t>Fit Circles and Leaderboards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A272C17-4117-0933-517B-86BA831E5820}"/>
              </a:ext>
            </a:extLst>
          </p:cNvPr>
          <p:cNvSpPr/>
          <p:nvPr/>
        </p:nvSpPr>
        <p:spPr>
          <a:xfrm>
            <a:off x="7061200" y="5740400"/>
            <a:ext cx="1727200" cy="292100"/>
          </a:xfrm>
          <a:prstGeom prst="roundRect">
            <a:avLst>
              <a:gd name="adj" fmla="val 25000"/>
            </a:avLst>
          </a:prstGeom>
          <a:solidFill>
            <a:srgbClr val="EEE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841D09-7BCF-AD1C-69CA-2ADCB7943536}"/>
              </a:ext>
            </a:extLst>
          </p:cNvPr>
          <p:cNvSpPr txBox="1"/>
          <p:nvPr/>
        </p:nvSpPr>
        <p:spPr>
          <a:xfrm>
            <a:off x="7188200" y="5803900"/>
            <a:ext cx="14732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950" b="1">
                <a:solidFill>
                  <a:srgbClr val="6937CD"/>
                </a:solidFill>
                <a:latin typeface="Aptos" panose="020B0004020202020204" pitchFamily="34" charset="0"/>
              </a:rPr>
              <a:t>Live Squad Sessions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F54BB2B-8A80-A651-C845-E65C971C122E}"/>
              </a:ext>
            </a:extLst>
          </p:cNvPr>
          <p:cNvSpPr/>
          <p:nvPr/>
        </p:nvSpPr>
        <p:spPr>
          <a:xfrm>
            <a:off x="8953500" y="5740400"/>
            <a:ext cx="1943100" cy="292100"/>
          </a:xfrm>
          <a:prstGeom prst="roundRect">
            <a:avLst>
              <a:gd name="adj" fmla="val 25000"/>
            </a:avLst>
          </a:prstGeom>
          <a:solidFill>
            <a:srgbClr val="D7F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A0E1DE-63B4-0ADC-74B3-7ACAA0E96AC7}"/>
              </a:ext>
            </a:extLst>
          </p:cNvPr>
          <p:cNvSpPr txBox="1"/>
          <p:nvPr/>
        </p:nvSpPr>
        <p:spPr>
          <a:xfrm>
            <a:off x="9080500" y="5803900"/>
            <a:ext cx="16891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950" b="1">
                <a:solidFill>
                  <a:srgbClr val="166AAE"/>
                </a:solidFill>
                <a:latin typeface="Aptos" panose="020B0004020202020204" pitchFamily="34" charset="0"/>
              </a:rPr>
              <a:t>Coordinator dashboard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917AC1-AC71-E40A-4A5C-A9F70919EEAB}"/>
              </a:ext>
            </a:extLst>
          </p:cNvPr>
          <p:cNvSpPr txBox="1"/>
          <p:nvPr/>
        </p:nvSpPr>
        <p:spPr>
          <a:xfrm>
            <a:off x="558800" y="6680200"/>
            <a:ext cx="11049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>
                <a:solidFill>
                  <a:srgbClr val="846C5C"/>
                </a:solidFill>
                <a:latin typeface="Aptos" panose="020B0004020202020204" pitchFamily="34" charset="0"/>
              </a:rPr>
              <a:t>NEXT: campus pilot  accessibility / local-language refinement  opt-in Health Connect as an additional, clearly labelled activity source</a:t>
            </a:r>
            <a:endParaRPr lang="en-IN" sz="1050">
              <a:solidFill>
                <a:srgbClr val="846C5C"/>
              </a:solidFill>
              <a:latin typeface="Aptos" panose="020B00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15A30BA-D189-7E75-A2A7-C33E81B136B8}"/>
              </a:ext>
            </a:extLst>
          </p:cNvPr>
          <p:cNvSpPr txBox="1"/>
          <p:nvPr/>
        </p:nvSpPr>
        <p:spPr>
          <a:xfrm>
            <a:off x="558800" y="7048500"/>
            <a:ext cx="11049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AA9485"/>
                </a:solidFill>
                <a:latin typeface="Aptos" panose="020B0004020202020204" pitchFamily="34" charset="0"/>
              </a:rPr>
              <a:t>Before submission: replace the placeholder below with your live prototype and repository URL.</a:t>
            </a:r>
            <a:endParaRPr lang="en-IN" sz="950">
              <a:solidFill>
                <a:srgbClr val="AA948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935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C8D06C-CC2B-440D-717E-171322C9401B}"/>
              </a:ext>
            </a:extLst>
          </p:cNvPr>
          <p:cNvSpPr txBox="1"/>
          <p:nvPr/>
        </p:nvSpPr>
        <p:spPr>
          <a:xfrm>
            <a:off x="558800" y="355600"/>
            <a:ext cx="139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EE6826"/>
                </a:solidFill>
                <a:latin typeface="Aptos Display" panose="020B0004020202020204" pitchFamily="34" charset="0"/>
              </a:rPr>
              <a:t>FITSAATHI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A3AD68-2ADB-D2F5-3DB5-6C843D1897C7}"/>
              </a:ext>
            </a:extLst>
          </p:cNvPr>
          <p:cNvSpPr txBox="1"/>
          <p:nvPr/>
        </p:nvSpPr>
        <p:spPr>
          <a:xfrm>
            <a:off x="558800" y="6604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846C5C"/>
                </a:solidFill>
                <a:latin typeface="Aptos" panose="020B0004020202020204" pitchFamily="34" charset="0"/>
              </a:rPr>
              <a:t>SOCIAL BENEFIT &amp; 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FB1307-2E57-3593-486A-C27D6D19E099}"/>
              </a:ext>
            </a:extLst>
          </p:cNvPr>
          <p:cNvSpPr txBox="1"/>
          <p:nvPr/>
        </p:nvSpPr>
        <p:spPr>
          <a:xfrm>
            <a:off x="11226800" y="355600"/>
            <a:ext cx="406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1000" b="1">
                <a:solidFill>
                  <a:srgbClr val="846C5C"/>
                </a:solidFill>
                <a:latin typeface="Aptos" panose="020B0004020202020204" pitchFamily="34" charset="0"/>
              </a:rPr>
              <a:t>06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16A1A0C-74B7-26CA-B53E-4C9733744B07}"/>
              </a:ext>
            </a:extLst>
          </p:cNvPr>
          <p:cNvCxnSpPr/>
          <p:nvPr/>
        </p:nvCxnSpPr>
        <p:spPr>
          <a:xfrm>
            <a:off x="558800" y="965200"/>
            <a:ext cx="11074400" cy="0"/>
          </a:xfrm>
          <a:prstGeom prst="line">
            <a:avLst/>
          </a:prstGeom>
          <a:ln w="12700">
            <a:solidFill>
              <a:srgbClr val="EEE3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641B22B-C125-78CB-42E4-891C592E30F5}"/>
              </a:ext>
            </a:extLst>
          </p:cNvPr>
          <p:cNvSpPr txBox="1"/>
          <p:nvPr/>
        </p:nvSpPr>
        <p:spPr>
          <a:xfrm>
            <a:off x="558800" y="1270000"/>
            <a:ext cx="99695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 b="1">
                <a:solidFill>
                  <a:srgbClr val="3E2719"/>
                </a:solidFill>
                <a:latin typeface="Aptos" panose="020B0004020202020204" pitchFamily="34" charset="0"/>
              </a:rPr>
              <a:t>A healthier campus begins with a fitness choice students can actually make today.</a:t>
            </a:r>
            <a:endParaRPr lang="en-IN" sz="2300" b="1">
              <a:solidFill>
                <a:srgbClr val="3E2719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7AC4979-DF79-B979-773A-3B5D9C449B93}"/>
              </a:ext>
            </a:extLst>
          </p:cNvPr>
          <p:cNvSpPr/>
          <p:nvPr/>
        </p:nvSpPr>
        <p:spPr>
          <a:xfrm>
            <a:off x="558800" y="2108200"/>
            <a:ext cx="2578100" cy="2209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EE3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4371EE4-448E-4365-A0F3-A5A9FED4527E}"/>
              </a:ext>
            </a:extLst>
          </p:cNvPr>
          <p:cNvSpPr/>
          <p:nvPr/>
        </p:nvSpPr>
        <p:spPr>
          <a:xfrm>
            <a:off x="787400" y="2324100"/>
            <a:ext cx="419100" cy="419100"/>
          </a:xfrm>
          <a:prstGeom prst="roundRect">
            <a:avLst>
              <a:gd name="adj" fmla="val 20000"/>
            </a:avLst>
          </a:prstGeom>
          <a:solidFill>
            <a:srgbClr val="FFEC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24BE5F-2749-D4D0-1DE9-4A2CE09237F9}"/>
              </a:ext>
            </a:extLst>
          </p:cNvPr>
          <p:cNvSpPr txBox="1"/>
          <p:nvPr/>
        </p:nvSpPr>
        <p:spPr>
          <a:xfrm>
            <a:off x="787400" y="2387600"/>
            <a:ext cx="4191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1400" b="1">
                <a:solidFill>
                  <a:srgbClr val="EE6826"/>
                </a:solidFill>
                <a:latin typeface="Segoe UI Symbol" panose="020B0502040204020203" pitchFamily="34" charset="0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D504B2-7B6E-03E9-3A70-B1FBC99C145B}"/>
              </a:ext>
            </a:extLst>
          </p:cNvPr>
          <p:cNvSpPr txBox="1"/>
          <p:nvPr/>
        </p:nvSpPr>
        <p:spPr>
          <a:xfrm>
            <a:off x="1346200" y="2349500"/>
            <a:ext cx="15621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 b="1">
                <a:solidFill>
                  <a:srgbClr val="3E2719"/>
                </a:solidFill>
                <a:latin typeface="Aptos" panose="020B0004020202020204" pitchFamily="34" charset="0"/>
              </a:rPr>
              <a:t>Less decision friction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FE9DA1-6CF7-40E1-2C1E-36DFDF4F3307}"/>
              </a:ext>
            </a:extLst>
          </p:cNvPr>
          <p:cNvSpPr txBox="1"/>
          <p:nvPr/>
        </p:nvSpPr>
        <p:spPr>
          <a:xfrm>
            <a:off x="787400" y="2882900"/>
            <a:ext cx="2120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846C5C"/>
                </a:solidFill>
                <a:latin typeface="Aptos" panose="020B0004020202020204" pitchFamily="34" charset="0"/>
              </a:rPr>
              <a:t>A specific next action is easier to start than a vague instruction to exercise more.</a:t>
            </a:r>
            <a:endParaRPr lang="en-IN" sz="1050">
              <a:solidFill>
                <a:srgbClr val="846C5C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8CBAC41-F118-AE50-3925-430E04A8E321}"/>
              </a:ext>
            </a:extLst>
          </p:cNvPr>
          <p:cNvSpPr/>
          <p:nvPr/>
        </p:nvSpPr>
        <p:spPr>
          <a:xfrm>
            <a:off x="3390900" y="2108200"/>
            <a:ext cx="2578100" cy="2209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EE3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75B3C3D-3D9A-CF02-3653-3717FD501150}"/>
              </a:ext>
            </a:extLst>
          </p:cNvPr>
          <p:cNvSpPr/>
          <p:nvPr/>
        </p:nvSpPr>
        <p:spPr>
          <a:xfrm>
            <a:off x="3619500" y="2324100"/>
            <a:ext cx="419100" cy="419100"/>
          </a:xfrm>
          <a:prstGeom prst="roundRect">
            <a:avLst>
              <a:gd name="adj" fmla="val 20000"/>
            </a:avLst>
          </a:prstGeom>
          <a:solidFill>
            <a:srgbClr val="EBF6D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3EB71D-0EAD-C078-D138-ECF0A4AC9054}"/>
              </a:ext>
            </a:extLst>
          </p:cNvPr>
          <p:cNvSpPr txBox="1"/>
          <p:nvPr/>
        </p:nvSpPr>
        <p:spPr>
          <a:xfrm>
            <a:off x="3619500" y="2387600"/>
            <a:ext cx="4191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1400" b="1">
                <a:solidFill>
                  <a:srgbClr val="679117"/>
                </a:solidFill>
                <a:latin typeface="Segoe UI Symbol" panose="020B0502040204020203" pitchFamily="34" charset="0"/>
              </a:rPr>
              <a:t>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DC54DE-40C4-A905-DBCE-A9AC7D346EB4}"/>
              </a:ext>
            </a:extLst>
          </p:cNvPr>
          <p:cNvSpPr txBox="1"/>
          <p:nvPr/>
        </p:nvSpPr>
        <p:spPr>
          <a:xfrm>
            <a:off x="4178300" y="2349500"/>
            <a:ext cx="15621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 b="1">
                <a:solidFill>
                  <a:srgbClr val="3E2719"/>
                </a:solidFill>
                <a:latin typeface="Aptos" panose="020B0004020202020204" pitchFamily="34" charset="0"/>
              </a:rPr>
              <a:t>Safer choices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1CFE3C-7D3E-ED63-3541-30FB84277AEF}"/>
              </a:ext>
            </a:extLst>
          </p:cNvPr>
          <p:cNvSpPr txBox="1"/>
          <p:nvPr/>
        </p:nvSpPr>
        <p:spPr>
          <a:xfrm>
            <a:off x="3619500" y="2882900"/>
            <a:ext cx="2120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846C5C"/>
                </a:solidFill>
                <a:latin typeface="Aptos" panose="020B0004020202020204" pitchFamily="34" charset="0"/>
              </a:rPr>
              <a:t>Students can favour green weather/AQI windows and campus spots with relevant conditions.</a:t>
            </a:r>
            <a:endParaRPr lang="en-IN" sz="1050">
              <a:solidFill>
                <a:srgbClr val="846C5C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D607FBD-70D1-B132-3CDD-B5CA5CCDEC57}"/>
              </a:ext>
            </a:extLst>
          </p:cNvPr>
          <p:cNvSpPr/>
          <p:nvPr/>
        </p:nvSpPr>
        <p:spPr>
          <a:xfrm>
            <a:off x="6223000" y="2108200"/>
            <a:ext cx="2578100" cy="2209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EE3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A748F49-E989-69BD-AC24-DB29876E2E0E}"/>
              </a:ext>
            </a:extLst>
          </p:cNvPr>
          <p:cNvSpPr/>
          <p:nvPr/>
        </p:nvSpPr>
        <p:spPr>
          <a:xfrm>
            <a:off x="6451600" y="2324100"/>
            <a:ext cx="419100" cy="419100"/>
          </a:xfrm>
          <a:prstGeom prst="roundRect">
            <a:avLst>
              <a:gd name="adj" fmla="val 20000"/>
            </a:avLst>
          </a:prstGeom>
          <a:solidFill>
            <a:srgbClr val="FFE7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2B65EE-1E8A-34C8-0558-36B1225ED8A0}"/>
              </a:ext>
            </a:extLst>
          </p:cNvPr>
          <p:cNvSpPr txBox="1"/>
          <p:nvPr/>
        </p:nvSpPr>
        <p:spPr>
          <a:xfrm>
            <a:off x="6451600" y="2387600"/>
            <a:ext cx="4191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1400" b="1">
                <a:solidFill>
                  <a:srgbClr val="C9457B"/>
                </a:solidFill>
                <a:latin typeface="Segoe UI Symbol" panose="020B0502040204020203" pitchFamily="34" charset="0"/>
              </a:rPr>
              <a:t>03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5C4804-07FC-6427-ED39-80C56C1A5B41}"/>
              </a:ext>
            </a:extLst>
          </p:cNvPr>
          <p:cNvSpPr txBox="1"/>
          <p:nvPr/>
        </p:nvSpPr>
        <p:spPr>
          <a:xfrm>
            <a:off x="7010400" y="2349500"/>
            <a:ext cx="15621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 b="1">
                <a:solidFill>
                  <a:srgbClr val="3E2719"/>
                </a:solidFill>
                <a:latin typeface="Aptos" panose="020B0004020202020204" pitchFamily="34" charset="0"/>
              </a:rPr>
              <a:t>Social accountability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2B63DA-C0A2-32E4-5AC0-C3B89CF0F3D6}"/>
              </a:ext>
            </a:extLst>
          </p:cNvPr>
          <p:cNvSpPr txBox="1"/>
          <p:nvPr/>
        </p:nvSpPr>
        <p:spPr>
          <a:xfrm>
            <a:off x="6451600" y="2882900"/>
            <a:ext cx="2120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846C5C"/>
                </a:solidFill>
                <a:latin typeface="Aptos" panose="020B0004020202020204" pitchFamily="34" charset="0"/>
              </a:rPr>
              <a:t>Circles, challenges and Squad Sessions make progress a shared campus experience.</a:t>
            </a:r>
            <a:endParaRPr lang="en-IN" sz="1050">
              <a:solidFill>
                <a:srgbClr val="846C5C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F05F702-9DEC-C0B2-9EF9-5EF864696DD2}"/>
              </a:ext>
            </a:extLst>
          </p:cNvPr>
          <p:cNvSpPr/>
          <p:nvPr/>
        </p:nvSpPr>
        <p:spPr>
          <a:xfrm>
            <a:off x="9055100" y="2108200"/>
            <a:ext cx="2578100" cy="2209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EE3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C97C9D7-5159-8FAC-2535-865C9E24A869}"/>
              </a:ext>
            </a:extLst>
          </p:cNvPr>
          <p:cNvSpPr/>
          <p:nvPr/>
        </p:nvSpPr>
        <p:spPr>
          <a:xfrm>
            <a:off x="9283700" y="2324100"/>
            <a:ext cx="419100" cy="419100"/>
          </a:xfrm>
          <a:prstGeom prst="roundRect">
            <a:avLst>
              <a:gd name="adj" fmla="val 20000"/>
            </a:avLst>
          </a:prstGeom>
          <a:solidFill>
            <a:srgbClr val="D7F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3317D6-8170-9DCF-1C24-B7956836B8A6}"/>
              </a:ext>
            </a:extLst>
          </p:cNvPr>
          <p:cNvSpPr txBox="1"/>
          <p:nvPr/>
        </p:nvSpPr>
        <p:spPr>
          <a:xfrm>
            <a:off x="9283700" y="2387600"/>
            <a:ext cx="4191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1400" b="1">
                <a:solidFill>
                  <a:srgbClr val="166AAE"/>
                </a:solidFill>
                <a:latin typeface="Segoe UI Symbol" panose="020B0502040204020203" pitchFamily="34" charset="0"/>
              </a:rPr>
              <a:t>04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1A6569-E81E-0355-ADBA-E9D42DA075EB}"/>
              </a:ext>
            </a:extLst>
          </p:cNvPr>
          <p:cNvSpPr txBox="1"/>
          <p:nvPr/>
        </p:nvSpPr>
        <p:spPr>
          <a:xfrm>
            <a:off x="9842500" y="2349500"/>
            <a:ext cx="15621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 b="1">
                <a:solidFill>
                  <a:srgbClr val="3E2719"/>
                </a:solidFill>
                <a:latin typeface="Aptos" panose="020B0004020202020204" pitchFamily="34" charset="0"/>
              </a:rPr>
              <a:t>Responsible coordination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38089D-FF93-5651-00E0-B55320C6313A}"/>
              </a:ext>
            </a:extLst>
          </p:cNvPr>
          <p:cNvSpPr txBox="1"/>
          <p:nvPr/>
        </p:nvSpPr>
        <p:spPr>
          <a:xfrm>
            <a:off x="9283700" y="2882900"/>
            <a:ext cx="2120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846C5C"/>
                </a:solidFill>
                <a:latin typeface="Aptos" panose="020B0004020202020204" pitchFamily="34" charset="0"/>
              </a:rPr>
              <a:t>Aggregate-only views give campus coordinators useful signals while protecting personal data.</a:t>
            </a:r>
            <a:endParaRPr lang="en-IN" sz="1050">
              <a:solidFill>
                <a:srgbClr val="846C5C"/>
              </a:solidFill>
              <a:latin typeface="Aptos" panose="020B000402020202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CC7DF75-0533-8FED-110F-3ED928F0C129}"/>
              </a:ext>
            </a:extLst>
          </p:cNvPr>
          <p:cNvSpPr/>
          <p:nvPr/>
        </p:nvSpPr>
        <p:spPr>
          <a:xfrm>
            <a:off x="558800" y="5003800"/>
            <a:ext cx="110744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E3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9BD636-3F59-D3CB-C366-31DD6FFECE9E}"/>
              </a:ext>
            </a:extLst>
          </p:cNvPr>
          <p:cNvSpPr txBox="1"/>
          <p:nvPr/>
        </p:nvSpPr>
        <p:spPr>
          <a:xfrm>
            <a:off x="825500" y="52959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EE6826"/>
                </a:solidFill>
                <a:latin typeface="Aptos" panose="020B0004020202020204" pitchFamily="34" charset="0"/>
              </a:rPr>
              <a:t>PRODUCT &amp; RESEARCH BASIS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35E0FE-DDE4-7A3E-3209-4F4A3F0C0E65}"/>
              </a:ext>
            </a:extLst>
          </p:cNvPr>
          <p:cNvSpPr txBox="1"/>
          <p:nvPr/>
        </p:nvSpPr>
        <p:spPr>
          <a:xfrm>
            <a:off x="825500" y="5676900"/>
            <a:ext cx="100330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50">
                <a:solidFill>
                  <a:srgbClr val="846C5C"/>
                </a:solidFill>
                <a:latin typeface="Aptos" panose="020B0004020202020204" pitchFamily="34" charset="0"/>
              </a:rPr>
              <a:t> Smart India Hackathon Problem Statement 26196  Student Innovation: ideas to boost fitness activities and assist in keeping fit
 Open-Meteo  weather and air-quality context; OpenStreetMap  campus activity-place discovery
 FitSaathi technical implementation: Next.js, Supabase, MapLibre and PWA architecture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B5797E-5646-43F3-3E38-0B7D420D7FF0}"/>
              </a:ext>
            </a:extLst>
          </p:cNvPr>
          <p:cNvSpPr txBox="1"/>
          <p:nvPr/>
        </p:nvSpPr>
        <p:spPr>
          <a:xfrm>
            <a:off x="558800" y="6959600"/>
            <a:ext cx="11074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EE6826"/>
                </a:solidFill>
                <a:latin typeface="Aptos Display" panose="020B0004020202020204" pitchFamily="34" charset="0"/>
              </a:rPr>
              <a:t>FitSaathi  fitness that fits student life.</a:t>
            </a:r>
            <a:endParaRPr lang="en-IN" sz="1300" b="1">
              <a:solidFill>
                <a:srgbClr val="EE6826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2002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774</Words>
  <Application>Microsoft Office PowerPoint</Application>
  <PresentationFormat>On-screen Show (16:9)</PresentationFormat>
  <Paragraphs>111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Calibri Light</vt:lpstr>
      <vt:lpstr>Segoe UI 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Krishan Singh</dc:creator>
  <cp:lastModifiedBy>Krishan Singh</cp:lastModifiedBy>
  <cp:revision>1</cp:revision>
  <dcterms:created xsi:type="dcterms:W3CDTF">2026-09-14T06:52:30Z</dcterms:created>
  <dcterms:modified xsi:type="dcterms:W3CDTF">2026-09-14T06:52:30Z</dcterms:modified>
</cp:coreProperties>
</file>